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1" r:id="rId5"/>
    <p:sldId id="263" r:id="rId6"/>
    <p:sldId id="266" r:id="rId7"/>
    <p:sldId id="264" r:id="rId8"/>
    <p:sldId id="265" r:id="rId9"/>
    <p:sldId id="267" r:id="rId10"/>
    <p:sldId id="268" r:id="rId11"/>
    <p:sldId id="26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F79F0A-08AB-F4A8-68AF-2F635A4F9EB1}" v="428" dt="2025-08-07T16:32:08.292"/>
    <p1510:client id="{BD587D8C-4B8E-C842-CAEC-51C3950AF61B}" v="179" dt="2025-08-07T16:55:08.580"/>
    <p1510:client id="{C8645A1E-3430-68EC-4A8D-D1D7A9FB42B6}" v="8" dt="2025-08-07T13:29:50.9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6" d="100"/>
          <a:sy n="96" d="100"/>
        </p:scale>
        <p:origin x="61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Google Shape;54;p13">
            <a:extLst>
              <a:ext uri="{FF2B5EF4-FFF2-40B4-BE49-F238E27FC236}">
                <a16:creationId xmlns:a16="http://schemas.microsoft.com/office/drawing/2014/main" id="{86D26913-F960-4A22-86DE-26274AE3F540}"/>
              </a:ext>
            </a:extLst>
          </p:cNvPr>
          <p:cNvSpPr/>
          <p:nvPr userDrawn="1"/>
        </p:nvSpPr>
        <p:spPr>
          <a:xfrm>
            <a:off x="357900" y="569000"/>
            <a:ext cx="11476200" cy="1368300"/>
          </a:xfrm>
          <a:prstGeom prst="roundRect">
            <a:avLst>
              <a:gd name="adj" fmla="val 9040"/>
            </a:avLst>
          </a:prstGeom>
          <a:solidFill>
            <a:srgbClr val="335295"/>
          </a:solidFill>
          <a:ln>
            <a:noFill/>
          </a:ln>
          <a:effectLst>
            <a:outerShdw blurRad="57150" dist="114300" dir="2700000" algn="bl" rotWithShape="0">
              <a:srgbClr val="000000">
                <a:alpha val="3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6;p13">
            <a:extLst>
              <a:ext uri="{FF2B5EF4-FFF2-40B4-BE49-F238E27FC236}">
                <a16:creationId xmlns:a16="http://schemas.microsoft.com/office/drawing/2014/main" id="{098C0B80-F99D-470B-9FDD-4D592A4D3B83}"/>
              </a:ext>
            </a:extLst>
          </p:cNvPr>
          <p:cNvSpPr txBox="1"/>
          <p:nvPr userDrawn="1"/>
        </p:nvSpPr>
        <p:spPr>
          <a:xfrm>
            <a:off x="492034" y="718403"/>
            <a:ext cx="11207931" cy="680156"/>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US" sz="2800" dirty="0">
                <a:solidFill>
                  <a:srgbClr val="FFFFFF"/>
                </a:solidFill>
              </a:rPr>
              <a:t> </a:t>
            </a:r>
            <a:endParaRPr sz="2200" dirty="0">
              <a:solidFill>
                <a:srgbClr val="FFFFFF"/>
              </a:solidFill>
            </a:endParaRPr>
          </a:p>
        </p:txBody>
      </p:sp>
      <p:pic>
        <p:nvPicPr>
          <p:cNvPr id="11" name="Google Shape;55;p13">
            <a:extLst>
              <a:ext uri="{FF2B5EF4-FFF2-40B4-BE49-F238E27FC236}">
                <a16:creationId xmlns:a16="http://schemas.microsoft.com/office/drawing/2014/main" id="{873C1C94-609F-4385-B415-448B95C211FD}"/>
              </a:ext>
            </a:extLst>
          </p:cNvPr>
          <p:cNvPicPr preferRelativeResize="0"/>
          <p:nvPr userDrawn="1"/>
        </p:nvPicPr>
        <p:blipFill>
          <a:blip r:embed="rId2">
            <a:alphaModFix/>
          </a:blip>
          <a:stretch>
            <a:fillRect/>
          </a:stretch>
        </p:blipFill>
        <p:spPr>
          <a:xfrm>
            <a:off x="357900" y="5905897"/>
            <a:ext cx="11476199" cy="766205"/>
          </a:xfrm>
          <a:prstGeom prst="rect">
            <a:avLst/>
          </a:prstGeom>
          <a:noFill/>
          <a:ln>
            <a:noFill/>
          </a:ln>
        </p:spPr>
      </p:pic>
    </p:spTree>
    <p:extLst>
      <p:ext uri="{BB962C8B-B14F-4D97-AF65-F5344CB8AC3E}">
        <p14:creationId xmlns:p14="http://schemas.microsoft.com/office/powerpoint/2010/main" val="568712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0030C6-AA40-41A1-B609-4A6625C5BF1A}"/>
              </a:ext>
            </a:extLst>
          </p:cNvPr>
          <p:cNvSpPr>
            <a:spLocks noGrp="1"/>
          </p:cNvSpPr>
          <p:nvPr>
            <p:ph idx="1"/>
          </p:nvPr>
        </p:nvSpPr>
        <p:spPr>
          <a:xfrm>
            <a:off x="496389" y="1018903"/>
            <a:ext cx="11364684" cy="4673692"/>
          </a:xfrm>
          <a:prstGeom prst="rect">
            <a:avLst/>
          </a:prstGeo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7" name="Google Shape;64;p14">
            <a:extLst>
              <a:ext uri="{FF2B5EF4-FFF2-40B4-BE49-F238E27FC236}">
                <a16:creationId xmlns:a16="http://schemas.microsoft.com/office/drawing/2014/main" id="{4364185B-C74A-41B8-A4AD-5ECB797475EB}"/>
              </a:ext>
            </a:extLst>
          </p:cNvPr>
          <p:cNvPicPr preferRelativeResize="0"/>
          <p:nvPr userDrawn="1"/>
        </p:nvPicPr>
        <p:blipFill>
          <a:blip r:embed="rId2">
            <a:alphaModFix/>
          </a:blip>
          <a:stretch>
            <a:fillRect/>
          </a:stretch>
        </p:blipFill>
        <p:spPr>
          <a:xfrm>
            <a:off x="496389" y="5734595"/>
            <a:ext cx="11364685" cy="843626"/>
          </a:xfrm>
          <a:prstGeom prst="rect">
            <a:avLst/>
          </a:prstGeom>
          <a:noFill/>
          <a:ln>
            <a:noFill/>
          </a:ln>
        </p:spPr>
      </p:pic>
      <p:sp>
        <p:nvSpPr>
          <p:cNvPr id="9" name="Google Shape;63;p14">
            <a:extLst>
              <a:ext uri="{FF2B5EF4-FFF2-40B4-BE49-F238E27FC236}">
                <a16:creationId xmlns:a16="http://schemas.microsoft.com/office/drawing/2014/main" id="{6FF94A92-8A89-4AFB-8DCD-9C8B9FEDD4FB}"/>
              </a:ext>
            </a:extLst>
          </p:cNvPr>
          <p:cNvSpPr/>
          <p:nvPr userDrawn="1"/>
        </p:nvSpPr>
        <p:spPr>
          <a:xfrm>
            <a:off x="74" y="-28226"/>
            <a:ext cx="12191925" cy="800215"/>
          </a:xfrm>
          <a:prstGeom prst="rect">
            <a:avLst/>
          </a:prstGeom>
          <a:solidFill>
            <a:srgbClr val="3352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7638722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8531286"/>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svg"/><Relationship Id="rId5" Type="http://schemas.openxmlformats.org/officeDocument/2006/relationships/image" Target="../media/image5.sv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arxiv.org/abs/2210.01272" TargetMode="External"/><Relationship Id="rId2" Type="http://schemas.openxmlformats.org/officeDocument/2006/relationships/hyperlink" Target="https://www.frontiersin.org/journals/plant-science/articles/10.3389/fpls.2024.1356260/full" TargetMode="External"/><Relationship Id="rId1" Type="http://schemas.openxmlformats.org/officeDocument/2006/relationships/slideLayout" Target="../slideLayouts/slideLayout2.xml"/><Relationship Id="rId5" Type="http://schemas.openxmlformats.org/officeDocument/2006/relationships/hyperlink" Target="https://arxiv.org/abs/2412.12176" TargetMode="External"/><Relationship Id="rId4" Type="http://schemas.openxmlformats.org/officeDocument/2006/relationships/hyperlink" Target="https://www.sciencedirect.com/science/article/pii/S2772375524002521"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Google Shape;56;p13">
            <a:extLst>
              <a:ext uri="{FF2B5EF4-FFF2-40B4-BE49-F238E27FC236}">
                <a16:creationId xmlns:a16="http://schemas.microsoft.com/office/drawing/2014/main" id="{BFD0314B-E7BA-4D43-8BFB-161570B9A9CF}"/>
              </a:ext>
            </a:extLst>
          </p:cNvPr>
          <p:cNvSpPr txBox="1"/>
          <p:nvPr/>
        </p:nvSpPr>
        <p:spPr>
          <a:xfrm>
            <a:off x="386326" y="954908"/>
            <a:ext cx="11052313" cy="892522"/>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IN" sz="2000" b="1" dirty="0">
                <a:solidFill>
                  <a:srgbClr val="FFFFFF"/>
                </a:solidFill>
              </a:rPr>
              <a:t>CAPSTONE PROJECT PHASE-1</a:t>
            </a:r>
          </a:p>
          <a:p>
            <a:pPr marL="0" lvl="0" indent="0" algn="ctr" rtl="0">
              <a:lnSpc>
                <a:spcPct val="115000"/>
              </a:lnSpc>
              <a:spcBef>
                <a:spcPts val="0"/>
              </a:spcBef>
              <a:spcAft>
                <a:spcPts val="0"/>
              </a:spcAft>
              <a:buNone/>
            </a:pPr>
            <a:r>
              <a:rPr lang="en-IN" sz="2000" b="1" dirty="0">
                <a:solidFill>
                  <a:srgbClr val="FFFFFF"/>
                </a:solidFill>
              </a:rPr>
              <a:t>Review -1</a:t>
            </a:r>
          </a:p>
        </p:txBody>
      </p:sp>
      <p:sp>
        <p:nvSpPr>
          <p:cNvPr id="2" name="Google Shape;57;p13">
            <a:extLst>
              <a:ext uri="{FF2B5EF4-FFF2-40B4-BE49-F238E27FC236}">
                <a16:creationId xmlns:a16="http://schemas.microsoft.com/office/drawing/2014/main" id="{50642C97-8177-9C85-EE94-BDB4BB93A021}"/>
              </a:ext>
            </a:extLst>
          </p:cNvPr>
          <p:cNvSpPr txBox="1"/>
          <p:nvPr/>
        </p:nvSpPr>
        <p:spPr>
          <a:xfrm>
            <a:off x="1446835" y="2402150"/>
            <a:ext cx="9690088" cy="923299"/>
          </a:xfrm>
          <a:prstGeom prst="rect">
            <a:avLst/>
          </a:prstGeom>
          <a:noFill/>
          <a:ln>
            <a:noFill/>
          </a:ln>
        </p:spPr>
        <p:txBody>
          <a:bodyPr spcFirstLastPara="1" wrap="square" lIns="91425" tIns="91425" rIns="91425" bIns="91425" anchor="t" anchorCtr="0">
            <a:spAutoFit/>
          </a:bodyPr>
          <a:lstStyle/>
          <a:p>
            <a:pPr algn="ctr"/>
            <a:r>
              <a:rPr lang="en-US" sz="2400" b="1" dirty="0">
                <a:solidFill>
                  <a:srgbClr val="000000"/>
                </a:solidFill>
                <a:latin typeface="Noto Serif SC Bold"/>
                <a:ea typeface="Noto Serif SC Bold" pitchFamily="34" charset="-122"/>
                <a:cs typeface="Noto Serif SC Bold" pitchFamily="34" charset="-120"/>
              </a:rPr>
              <a:t>Sustainable Precision Agriculture via Disease Localization and Optimized Treatment Pathways</a:t>
            </a:r>
            <a:endParaRPr lang="en-US" sz="2400" dirty="0">
              <a:latin typeface="Noto Serif SC Bold"/>
            </a:endParaRPr>
          </a:p>
        </p:txBody>
      </p:sp>
      <p:sp>
        <p:nvSpPr>
          <p:cNvPr id="3" name="Google Shape;58;p13">
            <a:extLst>
              <a:ext uri="{FF2B5EF4-FFF2-40B4-BE49-F238E27FC236}">
                <a16:creationId xmlns:a16="http://schemas.microsoft.com/office/drawing/2014/main" id="{DB01F3A7-1D3A-FC6F-E04C-B27E95A671DD}"/>
              </a:ext>
            </a:extLst>
          </p:cNvPr>
          <p:cNvSpPr txBox="1"/>
          <p:nvPr/>
        </p:nvSpPr>
        <p:spPr>
          <a:xfrm>
            <a:off x="1443403" y="4360479"/>
            <a:ext cx="5016289" cy="1458831"/>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dirty="0"/>
              <a:t>Prepared by : J Krithika, 220111046</a:t>
            </a:r>
          </a:p>
          <a:p>
            <a:pPr algn="ctr">
              <a:lnSpc>
                <a:spcPct val="115000"/>
              </a:lnSpc>
            </a:pPr>
            <a:r>
              <a:rPr lang="en" dirty="0"/>
              <a:t>Jumana, 22011101047</a:t>
            </a:r>
            <a:endParaRPr lang="en" dirty="0">
              <a:ea typeface="Calibri"/>
              <a:cs typeface="Calibri"/>
            </a:endParaRPr>
          </a:p>
          <a:p>
            <a:pPr algn="ctr">
              <a:lnSpc>
                <a:spcPct val="115000"/>
              </a:lnSpc>
            </a:pPr>
            <a:r>
              <a:rPr lang="en" dirty="0"/>
              <a:t>4</a:t>
            </a:r>
            <a:r>
              <a:rPr lang="en" baseline="30000" dirty="0"/>
              <a:t>th</a:t>
            </a:r>
            <a:r>
              <a:rPr lang="en" dirty="0"/>
              <a:t> year, Artificial Intelligence and Data Science</a:t>
            </a:r>
            <a:endParaRPr lang="en">
              <a:ea typeface="Calibri"/>
              <a:cs typeface="Calibri"/>
            </a:endParaRPr>
          </a:p>
          <a:p>
            <a:pPr marL="0" lvl="0" indent="0" algn="ctr" rtl="0">
              <a:lnSpc>
                <a:spcPct val="115000"/>
              </a:lnSpc>
              <a:spcBef>
                <a:spcPts val="0"/>
              </a:spcBef>
              <a:spcAft>
                <a:spcPts val="0"/>
              </a:spcAft>
              <a:buNone/>
            </a:pPr>
            <a:r>
              <a:rPr lang="en" dirty="0"/>
              <a:t>Shiv Nadar University, Chennai </a:t>
            </a:r>
            <a:endParaRPr lang="en" dirty="0">
              <a:ea typeface="Calibri"/>
              <a:cs typeface="Calibri"/>
            </a:endParaRPr>
          </a:p>
        </p:txBody>
      </p:sp>
      <p:sp>
        <p:nvSpPr>
          <p:cNvPr id="9" name="TextBox 8">
            <a:extLst>
              <a:ext uri="{FF2B5EF4-FFF2-40B4-BE49-F238E27FC236}">
                <a16:creationId xmlns:a16="http://schemas.microsoft.com/office/drawing/2014/main" id="{44F35EFA-5AA6-CF35-5410-3C127B702538}"/>
              </a:ext>
            </a:extLst>
          </p:cNvPr>
          <p:cNvSpPr txBox="1"/>
          <p:nvPr/>
        </p:nvSpPr>
        <p:spPr>
          <a:xfrm>
            <a:off x="6293482" y="4572667"/>
            <a:ext cx="5531828" cy="1029256"/>
          </a:xfrm>
          <a:prstGeom prst="rect">
            <a:avLst/>
          </a:prstGeom>
          <a:noFill/>
        </p:spPr>
        <p:txBody>
          <a:bodyPr wrap="square" lIns="91440" tIns="45720" rIns="91440" bIns="45720" anchor="t">
            <a:spAutoFit/>
          </a:bodyPr>
          <a:lstStyle/>
          <a:p>
            <a:pPr marL="0" lvl="0" indent="0" algn="ctr" rtl="0">
              <a:lnSpc>
                <a:spcPct val="115000"/>
              </a:lnSpc>
              <a:spcBef>
                <a:spcPts val="0"/>
              </a:spcBef>
              <a:spcAft>
                <a:spcPts val="0"/>
              </a:spcAft>
              <a:buNone/>
            </a:pPr>
            <a:r>
              <a:rPr lang="en" dirty="0"/>
              <a:t>Mentored By : Dr. Veeramani Sonai</a:t>
            </a:r>
          </a:p>
          <a:p>
            <a:pPr algn="ctr">
              <a:lnSpc>
                <a:spcPct val="114999"/>
              </a:lnSpc>
            </a:pPr>
            <a:r>
              <a:rPr lang="en" dirty="0">
                <a:ea typeface="+mn-lt"/>
                <a:cs typeface="+mn-lt"/>
              </a:rPr>
              <a:t>Associate Professor, Computer Science and Engineering</a:t>
            </a:r>
          </a:p>
          <a:p>
            <a:pPr marL="0" lvl="0" indent="0" algn="ctr" rtl="0">
              <a:lnSpc>
                <a:spcPct val="115000"/>
              </a:lnSpc>
              <a:spcBef>
                <a:spcPts val="0"/>
              </a:spcBef>
              <a:spcAft>
                <a:spcPts val="0"/>
              </a:spcAft>
              <a:buNone/>
            </a:pPr>
            <a:r>
              <a:rPr lang="en" dirty="0"/>
              <a:t>Shiv Nadar University, Chennai </a:t>
            </a:r>
            <a:endParaRPr lang="en" dirty="0">
              <a:ea typeface="Calibri"/>
              <a:cs typeface="Calibri"/>
            </a:endParaRPr>
          </a:p>
        </p:txBody>
      </p:sp>
    </p:spTree>
    <p:extLst>
      <p:ext uri="{BB962C8B-B14F-4D97-AF65-F5344CB8AC3E}">
        <p14:creationId xmlns:p14="http://schemas.microsoft.com/office/powerpoint/2010/main" val="1655540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56;p13">
            <a:extLst>
              <a:ext uri="{FF2B5EF4-FFF2-40B4-BE49-F238E27FC236}">
                <a16:creationId xmlns:a16="http://schemas.microsoft.com/office/drawing/2014/main" id="{AF7253A5-0268-4885-AC0B-8F105ED09681}"/>
              </a:ext>
            </a:extLst>
          </p:cNvPr>
          <p:cNvSpPr txBox="1"/>
          <p:nvPr/>
        </p:nvSpPr>
        <p:spPr>
          <a:xfrm>
            <a:off x="178905" y="60098"/>
            <a:ext cx="11052313" cy="573973"/>
          </a:xfrm>
          <a:prstGeom prst="rect">
            <a:avLst/>
          </a:prstGeom>
          <a:noFill/>
          <a:ln>
            <a:noFill/>
          </a:ln>
        </p:spPr>
        <p:txBody>
          <a:bodyPr spcFirstLastPara="1" wrap="square" lIns="91425" tIns="91425" rIns="91425" bIns="91425" anchor="t" anchorCtr="0">
            <a:spAutoFit/>
          </a:bodyPr>
          <a:lstStyle/>
          <a:p>
            <a:pPr marL="0" lvl="0" indent="0" rtl="0">
              <a:lnSpc>
                <a:spcPct val="115000"/>
              </a:lnSpc>
              <a:spcBef>
                <a:spcPts val="0"/>
              </a:spcBef>
              <a:spcAft>
                <a:spcPts val="0"/>
              </a:spcAft>
              <a:buNone/>
            </a:pPr>
            <a:r>
              <a:rPr lang="en-US" sz="2200" dirty="0">
                <a:solidFill>
                  <a:srgbClr val="FFFFFF"/>
                </a:solidFill>
              </a:rPr>
              <a:t>Problem Description</a:t>
            </a:r>
          </a:p>
        </p:txBody>
      </p:sp>
      <p:sp>
        <p:nvSpPr>
          <p:cNvPr id="2" name="TextBox 1">
            <a:extLst>
              <a:ext uri="{FF2B5EF4-FFF2-40B4-BE49-F238E27FC236}">
                <a16:creationId xmlns:a16="http://schemas.microsoft.com/office/drawing/2014/main" id="{33EFE299-9146-6855-70B8-3161F85BB509}"/>
              </a:ext>
            </a:extLst>
          </p:cNvPr>
          <p:cNvSpPr txBox="1"/>
          <p:nvPr/>
        </p:nvSpPr>
        <p:spPr>
          <a:xfrm>
            <a:off x="569843" y="1074509"/>
            <a:ext cx="11052313" cy="4708981"/>
          </a:xfrm>
          <a:prstGeom prst="rect">
            <a:avLst/>
          </a:prstGeom>
          <a:noFill/>
        </p:spPr>
        <p:txBody>
          <a:bodyPr wrap="square" lIns="91440" tIns="45720" rIns="91440" bIns="45720" rtlCol="0" anchor="t">
            <a:spAutoFit/>
          </a:bodyPr>
          <a:lstStyle/>
          <a:p>
            <a:r>
              <a:rPr lang="en-US" sz="2000" dirty="0"/>
              <a:t>Modern agriculture faces the dual challenge of maximizing crop yield while minimizing environmental damage. Traditional approaches to managing plant diseases often involve blanket pesticide spraying across entire fields, regardless of whether all areas are </a:t>
            </a:r>
            <a:r>
              <a:rPr lang="en-US" sz="2000" dirty="0">
                <a:ea typeface="+mn-lt"/>
                <a:cs typeface="+mn-lt"/>
              </a:rPr>
              <a:t>actually</a:t>
            </a:r>
            <a:r>
              <a:rPr lang="en-US" sz="2000" dirty="0"/>
              <a:t> infected. This leads to excessive chemical usage, increased operational costs, and environmental harm due to chemical runoff.</a:t>
            </a:r>
          </a:p>
          <a:p>
            <a:endParaRPr lang="en-US" sz="2000" dirty="0"/>
          </a:p>
          <a:p>
            <a:r>
              <a:rPr lang="en-US" sz="2000" dirty="0"/>
              <a:t>The </a:t>
            </a:r>
            <a:r>
              <a:rPr lang="en-US" sz="2000" b="1" dirty="0"/>
              <a:t>"Sustainable Precision Agriculture via Disease Localization and Optimized Treatment Pathways"</a:t>
            </a:r>
            <a:r>
              <a:rPr lang="en-US" sz="2000" dirty="0"/>
              <a:t> project aims to solve this problem by introducing a targeted approach to disease management in agricultural fields. By leveraging </a:t>
            </a:r>
            <a:r>
              <a:rPr lang="en-US" sz="2000" b="1" dirty="0"/>
              <a:t>geospatial data</a:t>
            </a:r>
            <a:r>
              <a:rPr lang="en-US" sz="2000" dirty="0"/>
              <a:t> (such as Sentinel-2 satellite imagery) and </a:t>
            </a:r>
            <a:r>
              <a:rPr lang="en-US" sz="2000" b="1" dirty="0"/>
              <a:t>deep learning techniques</a:t>
            </a:r>
            <a:r>
              <a:rPr lang="en-US" sz="2000" dirty="0"/>
              <a:t>, the system detects and segments diseased regions within a field. These zones are then geolocated, and an </a:t>
            </a:r>
            <a:r>
              <a:rPr lang="en-US" sz="2000" b="1" dirty="0"/>
              <a:t>optimized spraying route</a:t>
            </a:r>
            <a:r>
              <a:rPr lang="en-US" sz="2000" dirty="0"/>
              <a:t> is calculated using graph-based algorithms.</a:t>
            </a:r>
          </a:p>
          <a:p>
            <a:endParaRPr lang="en-US" sz="2000" dirty="0"/>
          </a:p>
          <a:p>
            <a:r>
              <a:rPr lang="en-US" sz="2000" dirty="0"/>
              <a:t>The system ensures that treatment is applied </a:t>
            </a:r>
            <a:r>
              <a:rPr lang="en-US" sz="2000" b="1" dirty="0"/>
              <a:t>only where necessary</a:t>
            </a:r>
            <a:r>
              <a:rPr lang="en-US" sz="2000" dirty="0"/>
              <a:t>, minimizing chemical usage while maximizing operational efficiency. This approach supports </a:t>
            </a:r>
            <a:r>
              <a:rPr lang="en-US" sz="2000" b="1" dirty="0"/>
              <a:t>sustainable farming practices</a:t>
            </a:r>
            <a:r>
              <a:rPr lang="en-US" sz="2000" dirty="0"/>
              <a:t>, reduces input costs, and promotes environmental safety, making it highly relevant for modern precision agriculture.</a:t>
            </a:r>
          </a:p>
          <a:p>
            <a:endParaRPr lang="en-US" sz="2000" dirty="0"/>
          </a:p>
        </p:txBody>
      </p:sp>
    </p:spTree>
    <p:extLst>
      <p:ext uri="{BB962C8B-B14F-4D97-AF65-F5344CB8AC3E}">
        <p14:creationId xmlns:p14="http://schemas.microsoft.com/office/powerpoint/2010/main" val="1547831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1374C-EC8E-BA0D-A069-B72F18C806EF}"/>
            </a:ext>
          </a:extLst>
        </p:cNvPr>
        <p:cNvGrpSpPr/>
        <p:nvPr/>
      </p:nvGrpSpPr>
      <p:grpSpPr>
        <a:xfrm>
          <a:off x="0" y="0"/>
          <a:ext cx="0" cy="0"/>
          <a:chOff x="0" y="0"/>
          <a:chExt cx="0" cy="0"/>
        </a:xfrm>
      </p:grpSpPr>
      <p:sp>
        <p:nvSpPr>
          <p:cNvPr id="3" name="Google Shape;56;p13">
            <a:extLst>
              <a:ext uri="{FF2B5EF4-FFF2-40B4-BE49-F238E27FC236}">
                <a16:creationId xmlns:a16="http://schemas.microsoft.com/office/drawing/2014/main" id="{48155CCF-9822-05B4-7F81-5A6B29037E1E}"/>
              </a:ext>
            </a:extLst>
          </p:cNvPr>
          <p:cNvSpPr txBox="1"/>
          <p:nvPr/>
        </p:nvSpPr>
        <p:spPr>
          <a:xfrm>
            <a:off x="178905" y="60098"/>
            <a:ext cx="11052313" cy="573973"/>
          </a:xfrm>
          <a:prstGeom prst="rect">
            <a:avLst/>
          </a:prstGeom>
          <a:noFill/>
          <a:ln>
            <a:noFill/>
          </a:ln>
        </p:spPr>
        <p:txBody>
          <a:bodyPr spcFirstLastPara="1" wrap="square" lIns="91425" tIns="91425" rIns="91425" bIns="91425" anchor="t" anchorCtr="0">
            <a:spAutoFit/>
          </a:bodyPr>
          <a:lstStyle/>
          <a:p>
            <a:pPr marL="0" lvl="0" indent="0" rtl="0">
              <a:lnSpc>
                <a:spcPct val="115000"/>
              </a:lnSpc>
              <a:spcBef>
                <a:spcPts val="0"/>
              </a:spcBef>
              <a:spcAft>
                <a:spcPts val="0"/>
              </a:spcAft>
              <a:buNone/>
            </a:pPr>
            <a:r>
              <a:rPr lang="en-US" sz="2200" dirty="0">
                <a:solidFill>
                  <a:srgbClr val="FFFFFF"/>
                </a:solidFill>
              </a:rPr>
              <a:t>Significance</a:t>
            </a:r>
          </a:p>
        </p:txBody>
      </p:sp>
      <p:pic>
        <p:nvPicPr>
          <p:cNvPr id="12" name="Graphic 11" descr="Palm tree">
            <a:extLst>
              <a:ext uri="{FF2B5EF4-FFF2-40B4-BE49-F238E27FC236}">
                <a16:creationId xmlns:a16="http://schemas.microsoft.com/office/drawing/2014/main" id="{C8272ED6-C4B6-0160-64D6-0075764C0CF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790679"/>
            <a:ext cx="914400" cy="914400"/>
          </a:xfrm>
          <a:prstGeom prst="rect">
            <a:avLst/>
          </a:prstGeom>
        </p:spPr>
      </p:pic>
      <p:pic>
        <p:nvPicPr>
          <p:cNvPr id="14" name="Graphic 13" descr="Money">
            <a:extLst>
              <a:ext uri="{FF2B5EF4-FFF2-40B4-BE49-F238E27FC236}">
                <a16:creationId xmlns:a16="http://schemas.microsoft.com/office/drawing/2014/main" id="{86CC51BD-FCD4-687D-029D-538B8FEAD7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10320" y="2075333"/>
            <a:ext cx="914400" cy="914400"/>
          </a:xfrm>
          <a:prstGeom prst="rect">
            <a:avLst/>
          </a:prstGeom>
        </p:spPr>
      </p:pic>
      <p:pic>
        <p:nvPicPr>
          <p:cNvPr id="16" name="Graphic 15" descr="Brain">
            <a:extLst>
              <a:ext uri="{FF2B5EF4-FFF2-40B4-BE49-F238E27FC236}">
                <a16:creationId xmlns:a16="http://schemas.microsoft.com/office/drawing/2014/main" id="{A2BC8575-10BE-1E78-C8B7-CF88734BD3F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76121" y="3815496"/>
            <a:ext cx="914400" cy="914400"/>
          </a:xfrm>
          <a:prstGeom prst="rect">
            <a:avLst/>
          </a:prstGeom>
        </p:spPr>
      </p:pic>
      <p:pic>
        <p:nvPicPr>
          <p:cNvPr id="18" name="Graphic 17" descr="Upward trend">
            <a:extLst>
              <a:ext uri="{FF2B5EF4-FFF2-40B4-BE49-F238E27FC236}">
                <a16:creationId xmlns:a16="http://schemas.microsoft.com/office/drawing/2014/main" id="{1DB46589-0B87-5D65-A471-450B3220FD2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85871" y="790679"/>
            <a:ext cx="914400" cy="914400"/>
          </a:xfrm>
          <a:prstGeom prst="rect">
            <a:avLst/>
          </a:prstGeom>
        </p:spPr>
      </p:pic>
      <p:pic>
        <p:nvPicPr>
          <p:cNvPr id="20" name="Graphic 19" descr="Earth Globe   Asia">
            <a:extLst>
              <a:ext uri="{FF2B5EF4-FFF2-40B4-BE49-F238E27FC236}">
                <a16:creationId xmlns:a16="http://schemas.microsoft.com/office/drawing/2014/main" id="{6C3799AF-66AA-BE5D-1862-9D064987DE7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886366" y="3616380"/>
            <a:ext cx="914400" cy="914400"/>
          </a:xfrm>
          <a:prstGeom prst="rect">
            <a:avLst/>
          </a:prstGeom>
        </p:spPr>
      </p:pic>
      <p:sp>
        <p:nvSpPr>
          <p:cNvPr id="21" name="TextBox 20">
            <a:extLst>
              <a:ext uri="{FF2B5EF4-FFF2-40B4-BE49-F238E27FC236}">
                <a16:creationId xmlns:a16="http://schemas.microsoft.com/office/drawing/2014/main" id="{D7531CD1-529D-FB4C-9EE3-F9D209BAD9D8}"/>
              </a:ext>
            </a:extLst>
          </p:cNvPr>
          <p:cNvSpPr txBox="1"/>
          <p:nvPr/>
        </p:nvSpPr>
        <p:spPr>
          <a:xfrm>
            <a:off x="609600" y="1138209"/>
            <a:ext cx="2920158" cy="369332"/>
          </a:xfrm>
          <a:prstGeom prst="rect">
            <a:avLst/>
          </a:prstGeom>
          <a:noFill/>
        </p:spPr>
        <p:txBody>
          <a:bodyPr wrap="none" rtlCol="0">
            <a:spAutoFit/>
          </a:bodyPr>
          <a:lstStyle/>
          <a:p>
            <a:r>
              <a:rPr lang="en-IN" b="1" dirty="0"/>
              <a:t>Environmental Sustainability</a:t>
            </a:r>
          </a:p>
        </p:txBody>
      </p:sp>
      <p:sp>
        <p:nvSpPr>
          <p:cNvPr id="22" name="TextBox 21">
            <a:extLst>
              <a:ext uri="{FF2B5EF4-FFF2-40B4-BE49-F238E27FC236}">
                <a16:creationId xmlns:a16="http://schemas.microsoft.com/office/drawing/2014/main" id="{4EAD11A8-167F-E504-225A-515AAEA5C9FA}"/>
              </a:ext>
            </a:extLst>
          </p:cNvPr>
          <p:cNvSpPr txBox="1"/>
          <p:nvPr/>
        </p:nvSpPr>
        <p:spPr>
          <a:xfrm>
            <a:off x="5118025" y="2394891"/>
            <a:ext cx="1552861" cy="369332"/>
          </a:xfrm>
          <a:prstGeom prst="rect">
            <a:avLst/>
          </a:prstGeom>
          <a:noFill/>
        </p:spPr>
        <p:txBody>
          <a:bodyPr wrap="none" rtlCol="0">
            <a:spAutoFit/>
          </a:bodyPr>
          <a:lstStyle/>
          <a:p>
            <a:r>
              <a:rPr lang="en-IN" b="1" dirty="0"/>
              <a:t>Cost Efficiency</a:t>
            </a:r>
          </a:p>
        </p:txBody>
      </p:sp>
      <p:sp>
        <p:nvSpPr>
          <p:cNvPr id="23" name="TextBox 22">
            <a:extLst>
              <a:ext uri="{FF2B5EF4-FFF2-40B4-BE49-F238E27FC236}">
                <a16:creationId xmlns:a16="http://schemas.microsoft.com/office/drawing/2014/main" id="{8271B767-149A-8B2A-3AF2-9B232BF1E975}"/>
              </a:ext>
            </a:extLst>
          </p:cNvPr>
          <p:cNvSpPr txBox="1"/>
          <p:nvPr/>
        </p:nvSpPr>
        <p:spPr>
          <a:xfrm>
            <a:off x="8810268" y="1063213"/>
            <a:ext cx="3226461" cy="369332"/>
          </a:xfrm>
          <a:prstGeom prst="rect">
            <a:avLst/>
          </a:prstGeom>
          <a:noFill/>
        </p:spPr>
        <p:txBody>
          <a:bodyPr wrap="none" rtlCol="0">
            <a:spAutoFit/>
          </a:bodyPr>
          <a:lstStyle/>
          <a:p>
            <a:r>
              <a:rPr lang="en-US" b="1" dirty="0"/>
              <a:t>Improved Crop Health and Yield</a:t>
            </a:r>
            <a:endParaRPr lang="en-IN" b="1" dirty="0"/>
          </a:p>
        </p:txBody>
      </p:sp>
      <p:sp>
        <p:nvSpPr>
          <p:cNvPr id="24" name="TextBox 23">
            <a:extLst>
              <a:ext uri="{FF2B5EF4-FFF2-40B4-BE49-F238E27FC236}">
                <a16:creationId xmlns:a16="http://schemas.microsoft.com/office/drawing/2014/main" id="{63BA74B2-825F-20D2-D8CA-4EC9A356D4D8}"/>
              </a:ext>
            </a:extLst>
          </p:cNvPr>
          <p:cNvSpPr txBox="1"/>
          <p:nvPr/>
        </p:nvSpPr>
        <p:spPr>
          <a:xfrm>
            <a:off x="1090521" y="4147687"/>
            <a:ext cx="2930098" cy="369332"/>
          </a:xfrm>
          <a:prstGeom prst="rect">
            <a:avLst/>
          </a:prstGeom>
          <a:noFill/>
        </p:spPr>
        <p:txBody>
          <a:bodyPr wrap="none" rtlCol="0">
            <a:spAutoFit/>
          </a:bodyPr>
          <a:lstStyle/>
          <a:p>
            <a:r>
              <a:rPr lang="en-IN" b="1" dirty="0"/>
              <a:t>AI-Powered Decision Making</a:t>
            </a:r>
          </a:p>
        </p:txBody>
      </p:sp>
      <p:sp>
        <p:nvSpPr>
          <p:cNvPr id="25" name="TextBox 24">
            <a:extLst>
              <a:ext uri="{FF2B5EF4-FFF2-40B4-BE49-F238E27FC236}">
                <a16:creationId xmlns:a16="http://schemas.microsoft.com/office/drawing/2014/main" id="{F816C332-6CD5-4AA8-C810-CA0B7876FE28}"/>
              </a:ext>
            </a:extLst>
          </p:cNvPr>
          <p:cNvSpPr txBox="1"/>
          <p:nvPr/>
        </p:nvSpPr>
        <p:spPr>
          <a:xfrm>
            <a:off x="8762714" y="3883646"/>
            <a:ext cx="3267561" cy="369332"/>
          </a:xfrm>
          <a:prstGeom prst="rect">
            <a:avLst/>
          </a:prstGeom>
          <a:noFill/>
        </p:spPr>
        <p:txBody>
          <a:bodyPr wrap="none" rtlCol="0">
            <a:spAutoFit/>
          </a:bodyPr>
          <a:lstStyle/>
          <a:p>
            <a:r>
              <a:rPr lang="en-IN" b="1" dirty="0"/>
              <a:t>Scalable and Adaptable Solution</a:t>
            </a:r>
          </a:p>
        </p:txBody>
      </p:sp>
      <p:sp>
        <p:nvSpPr>
          <p:cNvPr id="29" name="Rectangle 3">
            <a:extLst>
              <a:ext uri="{FF2B5EF4-FFF2-40B4-BE49-F238E27FC236}">
                <a16:creationId xmlns:a16="http://schemas.microsoft.com/office/drawing/2014/main" id="{0F62CFD9-22AB-9AF9-9943-C19C612CD2A8}"/>
              </a:ext>
            </a:extLst>
          </p:cNvPr>
          <p:cNvSpPr>
            <a:spLocks noChangeArrowheads="1"/>
          </p:cNvSpPr>
          <p:nvPr/>
        </p:nvSpPr>
        <p:spPr bwMode="auto">
          <a:xfrm>
            <a:off x="210743" y="1703279"/>
            <a:ext cx="4000641"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a:buChar char="•"/>
              <a:tabLst/>
            </a:pPr>
            <a:r>
              <a:rPr kumimoji="0" lang="en-US" altLang="en-US" sz="1800" b="0" i="0" u="none" strike="noStrike" cap="none" normalizeH="0" baseline="0" dirty="0">
                <a:ln>
                  <a:noFill/>
                </a:ln>
                <a:effectLst/>
                <a:latin typeface="Calibri"/>
                <a:ea typeface="Calibri"/>
                <a:cs typeface="Calibri"/>
              </a:rPr>
              <a:t>Reduces overuse of pesticides by targeting only diseased zones.</a:t>
            </a:r>
            <a:endParaRPr lang="en-US" dirty="0"/>
          </a:p>
          <a:p>
            <a:pPr marL="285750" marR="0" lvl="0" indent="-285750" algn="l" defTabSz="914400" rtl="0" eaLnBrk="0" fontAlgn="base" latinLnBrk="0" hangingPunct="0">
              <a:lnSpc>
                <a:spcPct val="100000"/>
              </a:lnSpc>
              <a:spcBef>
                <a:spcPct val="0"/>
              </a:spcBef>
              <a:spcAft>
                <a:spcPct val="0"/>
              </a:spcAft>
              <a:buClrTx/>
              <a:buSzTx/>
              <a:buFont typeface="Arial"/>
              <a:buChar char="•"/>
              <a:tabLst/>
            </a:pPr>
            <a:r>
              <a:rPr kumimoji="0" lang="en-US" altLang="en-US" sz="1800" b="0" i="0" u="none" strike="noStrike" cap="none" normalizeH="0" baseline="0" dirty="0">
                <a:ln>
                  <a:noFill/>
                </a:ln>
                <a:effectLst/>
                <a:latin typeface="Calibri"/>
                <a:ea typeface="Calibri"/>
                <a:cs typeface="Calibri"/>
              </a:rPr>
              <a:t>Minimizes chemical runoff into soil and water bodies.</a:t>
            </a:r>
            <a:endParaRPr lang="en-US" altLang="en-US" sz="1800" b="0" i="0" u="none" strike="noStrike" cap="none" normalizeH="0" baseline="0" dirty="0">
              <a:ln>
                <a:noFill/>
              </a:ln>
              <a:effectLst/>
              <a:latin typeface="Calibri"/>
              <a:ea typeface="Calibri"/>
              <a:cs typeface="Calibri"/>
            </a:endParaRPr>
          </a:p>
          <a:p>
            <a:pPr marL="285750" indent="-285750" eaLnBrk="0" fontAlgn="base" hangingPunct="0">
              <a:spcBef>
                <a:spcPct val="0"/>
              </a:spcBef>
              <a:spcAft>
                <a:spcPct val="0"/>
              </a:spcAft>
              <a:buFont typeface="Arial"/>
              <a:buChar char="•"/>
            </a:pPr>
            <a:r>
              <a:rPr lang="en-US" dirty="0">
                <a:ea typeface="+mn-lt"/>
                <a:cs typeface="+mn-lt"/>
              </a:rPr>
              <a:t>Supports eco-friendly farming practices and aligns with global sustainability goals.</a:t>
            </a:r>
            <a:endParaRPr lang="en-US" sz="1800" b="0" i="0" u="none" strike="noStrike" cap="none" normalizeH="0" baseline="0" dirty="0">
              <a:ln>
                <a:noFill/>
              </a:ln>
              <a:effectLst/>
              <a:ea typeface="+mn-lt"/>
              <a:cs typeface="+mn-lt"/>
            </a:endParaRPr>
          </a:p>
        </p:txBody>
      </p:sp>
      <p:sp>
        <p:nvSpPr>
          <p:cNvPr id="30" name="Rectangle 4">
            <a:extLst>
              <a:ext uri="{FF2B5EF4-FFF2-40B4-BE49-F238E27FC236}">
                <a16:creationId xmlns:a16="http://schemas.microsoft.com/office/drawing/2014/main" id="{C0672020-E6C9-9981-6491-8D80BC954B98}"/>
              </a:ext>
            </a:extLst>
          </p:cNvPr>
          <p:cNvSpPr>
            <a:spLocks noChangeArrowheads="1"/>
          </p:cNvSpPr>
          <p:nvPr/>
        </p:nvSpPr>
        <p:spPr bwMode="auto">
          <a:xfrm>
            <a:off x="4207723" y="2989734"/>
            <a:ext cx="350973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a:buChar char="•"/>
              <a:tabLst/>
            </a:pPr>
            <a:r>
              <a:rPr kumimoji="0" lang="en-US" altLang="en-US" sz="1800" b="0" i="0" u="none" strike="noStrike" cap="none" normalizeH="0" baseline="0" dirty="0">
                <a:ln>
                  <a:noFill/>
                </a:ln>
                <a:effectLst/>
                <a:latin typeface="Calibri"/>
                <a:ea typeface="Calibri"/>
                <a:cs typeface="Calibri"/>
              </a:rPr>
              <a:t>Lowers pesticide usage, reducing input costs for farmers.</a:t>
            </a:r>
            <a:endParaRPr lang="en-US" dirty="0">
              <a:ea typeface="Calibri" panose="020F0502020204030204"/>
              <a:cs typeface="Calibri" panose="020F0502020204030204"/>
            </a:endParaRPr>
          </a:p>
          <a:p>
            <a:pPr marL="285750" marR="0" lvl="0" indent="-285750" algn="l" defTabSz="914400" rtl="0" eaLnBrk="0" fontAlgn="base" latinLnBrk="0" hangingPunct="0">
              <a:lnSpc>
                <a:spcPct val="100000"/>
              </a:lnSpc>
              <a:spcBef>
                <a:spcPct val="0"/>
              </a:spcBef>
              <a:spcAft>
                <a:spcPct val="0"/>
              </a:spcAft>
              <a:buClrTx/>
              <a:buSzTx/>
              <a:buFont typeface="Arial"/>
              <a:buChar char="•"/>
              <a:tabLst/>
            </a:pPr>
            <a:r>
              <a:rPr kumimoji="0" lang="en-US" altLang="en-US" sz="1800" b="0" i="0" u="none" strike="noStrike" cap="none" normalizeH="0" baseline="0" dirty="0">
                <a:ln>
                  <a:noFill/>
                </a:ln>
                <a:effectLst/>
                <a:latin typeface="Calibri"/>
                <a:ea typeface="Calibri"/>
                <a:cs typeface="Calibri"/>
              </a:rPr>
              <a:t>Optimized spray routes cut fuel and labor costs by minimizing machine traversal.</a:t>
            </a:r>
            <a:endParaRPr lang="en-US" altLang="en-US" sz="1800" b="0" i="0" u="none" strike="noStrike" cap="none" normalizeH="0" baseline="0" dirty="0">
              <a:ln>
                <a:noFill/>
              </a:ln>
              <a:effectLst/>
              <a:latin typeface="Calibri"/>
              <a:ea typeface="Calibri"/>
              <a:cs typeface="Calibri"/>
            </a:endParaRPr>
          </a:p>
        </p:txBody>
      </p:sp>
      <p:sp>
        <p:nvSpPr>
          <p:cNvPr id="31" name="Rectangle 5">
            <a:extLst>
              <a:ext uri="{FF2B5EF4-FFF2-40B4-BE49-F238E27FC236}">
                <a16:creationId xmlns:a16="http://schemas.microsoft.com/office/drawing/2014/main" id="{C2943A7E-27E6-F853-A57C-2F080D64E6FA}"/>
              </a:ext>
            </a:extLst>
          </p:cNvPr>
          <p:cNvSpPr>
            <a:spLocks noChangeArrowheads="1"/>
          </p:cNvSpPr>
          <p:nvPr/>
        </p:nvSpPr>
        <p:spPr bwMode="auto">
          <a:xfrm>
            <a:off x="7885210" y="1790715"/>
            <a:ext cx="425984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Font typeface="Arial"/>
              <a:buChar char="•"/>
            </a:pPr>
            <a:r>
              <a:rPr kumimoji="0" lang="en-US" altLang="en-US" sz="1800" b="0" i="0" u="none" strike="noStrike" cap="none" normalizeH="0" baseline="0" dirty="0">
                <a:ln>
                  <a:noFill/>
                </a:ln>
                <a:effectLst/>
                <a:latin typeface="Calibri"/>
                <a:ea typeface="Calibri"/>
                <a:cs typeface="Calibri"/>
              </a:rPr>
              <a:t>Early and targeted disease detection enables timely intervention.</a:t>
            </a:r>
            <a:endParaRPr lang="en-US">
              <a:ea typeface="Calibri" panose="020F0502020204030204"/>
              <a:cs typeface="Calibri" panose="020F0502020204030204"/>
            </a:endParaRPr>
          </a:p>
          <a:p>
            <a:pPr marL="285750" indent="-285750" eaLnBrk="0" fontAlgn="base" hangingPunct="0">
              <a:spcBef>
                <a:spcPct val="0"/>
              </a:spcBef>
              <a:spcAft>
                <a:spcPct val="0"/>
              </a:spcAft>
              <a:buFont typeface="Arial"/>
              <a:buChar char="•"/>
            </a:pPr>
            <a:r>
              <a:rPr kumimoji="0" lang="en-US" sz="1800" b="0" i="0" u="none" strike="noStrike" cap="none" normalizeH="0" baseline="0">
                <a:ln>
                  <a:noFill/>
                </a:ln>
                <a:effectLst/>
                <a:ea typeface="+mn-lt"/>
                <a:cs typeface="+mn-lt"/>
              </a:rPr>
              <a:t>Promotes overall plant health and </a:t>
            </a:r>
            <a:r>
              <a:rPr lang="en-US">
                <a:ea typeface="+mn-lt"/>
                <a:cs typeface="+mn-lt"/>
              </a:rPr>
              <a:t>enhances</a:t>
            </a:r>
            <a:r>
              <a:rPr kumimoji="0" lang="en-US" sz="1800" b="0" i="0" u="none" strike="noStrike" cap="none" normalizeH="0" baseline="0">
                <a:ln>
                  <a:noFill/>
                </a:ln>
                <a:effectLst/>
                <a:ea typeface="+mn-lt"/>
                <a:cs typeface="+mn-lt"/>
              </a:rPr>
              <a:t> productivity.</a:t>
            </a:r>
            <a:endParaRPr lang="en-US" sz="1800" b="0" i="0" u="none" strike="noStrike" cap="none" normalizeH="0" baseline="0">
              <a:ln>
                <a:noFill/>
              </a:ln>
              <a:effectLst/>
              <a:ea typeface="+mn-lt"/>
              <a:cs typeface="+mn-lt"/>
            </a:endParaRPr>
          </a:p>
        </p:txBody>
      </p:sp>
      <p:sp>
        <p:nvSpPr>
          <p:cNvPr id="32" name="TextBox 31">
            <a:extLst>
              <a:ext uri="{FF2B5EF4-FFF2-40B4-BE49-F238E27FC236}">
                <a16:creationId xmlns:a16="http://schemas.microsoft.com/office/drawing/2014/main" id="{72EB0525-AAD0-21BA-C1FA-3BC373B63055}"/>
              </a:ext>
            </a:extLst>
          </p:cNvPr>
          <p:cNvSpPr txBox="1"/>
          <p:nvPr/>
        </p:nvSpPr>
        <p:spPr>
          <a:xfrm flipV="1">
            <a:off x="477562" y="10364302"/>
            <a:ext cx="80674" cy="63580"/>
          </a:xfrm>
          <a:prstGeom prst="rect">
            <a:avLst/>
          </a:prstGeom>
          <a:noFill/>
        </p:spPr>
        <p:txBody>
          <a:bodyPr wrap="square" rtlCol="0">
            <a:spAutoFit/>
          </a:bodyPr>
          <a:lstStyle/>
          <a:p>
            <a:endParaRPr lang="en-IN" dirty="0"/>
          </a:p>
        </p:txBody>
      </p:sp>
      <p:sp>
        <p:nvSpPr>
          <p:cNvPr id="33" name="Rectangle 6">
            <a:extLst>
              <a:ext uri="{FF2B5EF4-FFF2-40B4-BE49-F238E27FC236}">
                <a16:creationId xmlns:a16="http://schemas.microsoft.com/office/drawing/2014/main" id="{BA36011A-F1AA-7AAB-02F4-10B28DDAAA3F}"/>
              </a:ext>
            </a:extLst>
          </p:cNvPr>
          <p:cNvSpPr>
            <a:spLocks noChangeArrowheads="1"/>
          </p:cNvSpPr>
          <p:nvPr/>
        </p:nvSpPr>
        <p:spPr bwMode="auto">
          <a:xfrm>
            <a:off x="180363" y="4641624"/>
            <a:ext cx="4239999"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a:buChar char="•"/>
              <a:tabLst/>
            </a:pPr>
            <a:r>
              <a:rPr kumimoji="0" lang="en-US" altLang="en-US" sz="1800" b="0" i="0" u="none" strike="noStrike" cap="none" normalizeH="0" baseline="0" dirty="0">
                <a:ln>
                  <a:noFill/>
                </a:ln>
                <a:effectLst/>
                <a:latin typeface="Calibri"/>
                <a:ea typeface="Calibri"/>
                <a:cs typeface="Calibri"/>
              </a:rPr>
              <a:t>Integrates deep learning and geospatial analysis for intelligent disease detection.</a:t>
            </a:r>
            <a:endParaRPr lang="en-US">
              <a:ea typeface="Calibri" panose="020F0502020204030204"/>
              <a:cs typeface="Calibri" panose="020F0502020204030204"/>
            </a:endParaRPr>
          </a:p>
          <a:p>
            <a:pPr marL="285750" marR="0" lvl="0" indent="-285750" algn="l" defTabSz="914400" rtl="0" eaLnBrk="0" fontAlgn="base" latinLnBrk="0" hangingPunct="0">
              <a:lnSpc>
                <a:spcPct val="100000"/>
              </a:lnSpc>
              <a:spcBef>
                <a:spcPct val="0"/>
              </a:spcBef>
              <a:spcAft>
                <a:spcPct val="0"/>
              </a:spcAft>
              <a:buClrTx/>
              <a:buSzTx/>
              <a:buFont typeface="Arial"/>
              <a:buChar char="•"/>
              <a:tabLst/>
            </a:pPr>
            <a:r>
              <a:rPr kumimoji="0" lang="en-US" altLang="en-US" sz="1800" b="0" i="0" u="none" strike="noStrike" cap="none" normalizeH="0" baseline="0" dirty="0">
                <a:ln>
                  <a:noFill/>
                </a:ln>
                <a:effectLst/>
                <a:latin typeface="Calibri"/>
                <a:ea typeface="Calibri"/>
                <a:cs typeface="Calibri"/>
              </a:rPr>
              <a:t>Replaces manual scouting, saving time and ensuring consistency across large fields.</a:t>
            </a:r>
            <a:endParaRPr lang="en-US" altLang="en-US" sz="1800" b="0" i="0" u="none" strike="noStrike" cap="none" normalizeH="0" baseline="0" dirty="0">
              <a:ln>
                <a:noFill/>
              </a:ln>
              <a:effectLst/>
              <a:latin typeface="Calibri"/>
              <a:ea typeface="Calibri"/>
              <a:cs typeface="Calibri"/>
            </a:endParaRPr>
          </a:p>
        </p:txBody>
      </p:sp>
      <p:sp>
        <p:nvSpPr>
          <p:cNvPr id="36" name="Rectangle 8">
            <a:extLst>
              <a:ext uri="{FF2B5EF4-FFF2-40B4-BE49-F238E27FC236}">
                <a16:creationId xmlns:a16="http://schemas.microsoft.com/office/drawing/2014/main" id="{0C2C18B9-2748-B0DA-9209-3C78B5D61BBC}"/>
              </a:ext>
            </a:extLst>
          </p:cNvPr>
          <p:cNvSpPr>
            <a:spLocks noChangeArrowheads="1"/>
          </p:cNvSpPr>
          <p:nvPr/>
        </p:nvSpPr>
        <p:spPr bwMode="auto">
          <a:xfrm>
            <a:off x="7883000" y="4642140"/>
            <a:ext cx="426485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a:buChar char="•"/>
              <a:tabLst/>
            </a:pPr>
            <a:r>
              <a:rPr lang="en-US">
                <a:ea typeface="+mn-lt"/>
                <a:cs typeface="+mn-lt"/>
              </a:rPr>
              <a:t>Applicable</a:t>
            </a:r>
            <a:r>
              <a:rPr kumimoji="0" lang="en-US" sz="1800" b="0" i="0" u="none" strike="noStrike" cap="none" normalizeH="0" baseline="0">
                <a:ln>
                  <a:noFill/>
                </a:ln>
                <a:effectLst/>
                <a:ea typeface="+mn-lt"/>
                <a:cs typeface="+mn-lt"/>
              </a:rPr>
              <a:t> to various crop types and regions using satellite or UAV imagery.</a:t>
            </a:r>
            <a:endParaRPr lang="en-US">
              <a:ea typeface="Calibri" panose="020F0502020204030204"/>
              <a:cs typeface="Calibri" panose="020F0502020204030204"/>
            </a:endParaRPr>
          </a:p>
          <a:p>
            <a:pPr marL="285750" marR="0" lvl="0" indent="-285750" algn="l" defTabSz="914400" rtl="0" eaLnBrk="0" fontAlgn="base" latinLnBrk="0" hangingPunct="0">
              <a:lnSpc>
                <a:spcPct val="100000"/>
              </a:lnSpc>
              <a:spcBef>
                <a:spcPct val="0"/>
              </a:spcBef>
              <a:spcAft>
                <a:spcPct val="0"/>
              </a:spcAft>
              <a:buClrTx/>
              <a:buSzTx/>
              <a:buFont typeface="Arial"/>
              <a:buChar char="•"/>
              <a:tabLst/>
            </a:pPr>
            <a:r>
              <a:rPr kumimoji="0" lang="en-US" altLang="en-US" sz="1800" b="0" i="0" u="none" strike="noStrike" cap="none" normalizeH="0" baseline="0" dirty="0">
                <a:ln>
                  <a:noFill/>
                </a:ln>
                <a:effectLst/>
                <a:latin typeface="Calibri"/>
                <a:ea typeface="Calibri"/>
                <a:cs typeface="Calibri"/>
              </a:rPr>
              <a:t>Adaptable to multiple geospatial data sources, making it globally deployable.</a:t>
            </a:r>
            <a:endParaRPr lang="en-US" altLang="en-US" sz="1800" b="0" i="0" u="none" strike="noStrike" cap="none" normalizeH="0" baseline="0" dirty="0">
              <a:ln>
                <a:noFill/>
              </a:ln>
              <a:effectLst/>
              <a:latin typeface="Calibri"/>
              <a:ea typeface="Calibri"/>
              <a:cs typeface="Calibri"/>
            </a:endParaRPr>
          </a:p>
        </p:txBody>
      </p:sp>
    </p:spTree>
    <p:extLst>
      <p:ext uri="{BB962C8B-B14F-4D97-AF65-F5344CB8AC3E}">
        <p14:creationId xmlns:p14="http://schemas.microsoft.com/office/powerpoint/2010/main" val="294346949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childTnLst>
              </p:cTn>
              <p:nextCondLst>
                <p:cond evt="onClick" delay="0">
                  <p:tgtEl>
                    <p:spTgt spid="18"/>
                  </p:tgtEl>
                </p:cond>
              </p:nextCondLst>
            </p:seq>
            <p:seq concurrent="1" nextAc="seek">
              <p:cTn id="7" restart="whenNotActive" fill="hold" evtFilter="cancelBubble" nodeType="interactiveSeq">
                <p:stCondLst>
                  <p:cond evt="onClick" delay="0">
                    <p:tgtEl>
                      <p:spTgt spid="16"/>
                    </p:tgtEl>
                  </p:cond>
                </p:stCondLst>
                <p:endSync evt="end" delay="0">
                  <p:rtn val="all"/>
                </p:endSync>
                <p:childTnLst>
                  <p:par>
                    <p:cTn id="8" fill="hold">
                      <p:stCondLst>
                        <p:cond delay="0"/>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3"/>
                                        </p:tgtEl>
                                        <p:attrNameLst>
                                          <p:attrName>style.visibility</p:attrName>
                                        </p:attrNameLst>
                                      </p:cBhvr>
                                      <p:to>
                                        <p:strVal val="visible"/>
                                      </p:to>
                                    </p:set>
                                  </p:childTnLst>
                                </p:cTn>
                              </p:par>
                            </p:childTnLst>
                          </p:cTn>
                        </p:par>
                      </p:childTnLst>
                    </p:cTn>
                  </p:par>
                </p:childTnLst>
              </p:cTn>
              <p:nextCondLst>
                <p:cond evt="onClick" delay="0">
                  <p:tgtEl>
                    <p:spTgt spid="16"/>
                  </p:tgtEl>
                </p:cond>
              </p:nextCondLst>
            </p:seq>
            <p:seq concurrent="1" nextAc="seek">
              <p:cTn id="12" restart="whenNotActive" fill="hold" evtFilter="cancelBubble" nodeType="interactiveSeq">
                <p:stCondLst>
                  <p:cond evt="onClick" delay="0">
                    <p:tgtEl>
                      <p:spTgt spid="14"/>
                    </p:tgtEl>
                  </p:cond>
                </p:stCondLst>
                <p:endSync evt="end" delay="0">
                  <p:rtn val="all"/>
                </p:endSync>
                <p:childTnLst>
                  <p:par>
                    <p:cTn id="13" fill="hold">
                      <p:stCondLst>
                        <p:cond delay="0"/>
                      </p:stCondLst>
                      <p:childTnLst>
                        <p:par>
                          <p:cTn id="14" fill="hold">
                            <p:stCondLst>
                              <p:cond delay="0"/>
                            </p:stCondLst>
                            <p:childTnLst>
                              <p:par>
                                <p:cTn id="15" presetID="1" presetClass="entr" presetSubtype="0" fill="hold" grpId="1"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nextCondLst>
                <p:cond evt="onClick" delay="0">
                  <p:tgtEl>
                    <p:spTgt spid="14"/>
                  </p:tgtEl>
                </p:cond>
              </p:nextCondLst>
            </p:seq>
            <p:seq concurrent="1" nextAc="seek">
              <p:cTn id="21" restart="whenNotActive" fill="hold" evtFilter="cancelBubble" nodeType="interactiveSeq">
                <p:stCondLst>
                  <p:cond evt="onClick" delay="0">
                    <p:tgtEl>
                      <p:spTgt spid="12"/>
                    </p:tgtEl>
                  </p:cond>
                </p:stCondLst>
                <p:endSync evt="end" delay="0">
                  <p:rtn val="all"/>
                </p:endSync>
                <p:childTnLst>
                  <p:par>
                    <p:cTn id="22" fill="hold">
                      <p:stCondLst>
                        <p:cond delay="0"/>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childTnLst>
                                </p:cTn>
                              </p:par>
                            </p:childTnLst>
                          </p:cTn>
                        </p:par>
                      </p:childTnLst>
                    </p:cTn>
                  </p:par>
                </p:childTnLst>
              </p:cTn>
              <p:nextCondLst>
                <p:cond evt="onClick" delay="0">
                  <p:tgtEl>
                    <p:spTgt spid="12"/>
                  </p:tgtEl>
                </p:cond>
              </p:nextCondLst>
            </p:seq>
            <p:seq concurrent="1" nextAc="seek">
              <p:cTn id="26" restart="whenNotActive" fill="hold" evtFilter="cancelBubble" nodeType="interactiveSeq">
                <p:stCondLst>
                  <p:cond evt="onClick" delay="0">
                    <p:tgtEl>
                      <p:spTgt spid="20"/>
                    </p:tgtEl>
                  </p:cond>
                </p:stCondLst>
                <p:endSync evt="end" delay="0">
                  <p:rtn val="all"/>
                </p:endSync>
                <p:childTnLst>
                  <p:par>
                    <p:cTn id="27" fill="hold">
                      <p:stCondLst>
                        <p:cond delay="0"/>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childTnLst>
              </p:cTn>
              <p:nextCondLst>
                <p:cond evt="onClick" delay="0">
                  <p:tgtEl>
                    <p:spTgt spid="20"/>
                  </p:tgtEl>
                </p:cond>
              </p:nextCondLst>
            </p:seq>
          </p:childTnLst>
        </p:cTn>
      </p:par>
    </p:tnLst>
    <p:bldLst>
      <p:bldP spid="29" grpId="0"/>
      <p:bldP spid="30" grpId="0"/>
      <p:bldP spid="30" grpId="1"/>
      <p:bldP spid="31" grpId="0"/>
      <p:bldP spid="33" grpId="0"/>
      <p:bldP spid="3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58ADA-4024-E41D-4D47-8F05F89BED7F}"/>
            </a:ext>
          </a:extLst>
        </p:cNvPr>
        <p:cNvGrpSpPr/>
        <p:nvPr/>
      </p:nvGrpSpPr>
      <p:grpSpPr>
        <a:xfrm>
          <a:off x="0" y="0"/>
          <a:ext cx="0" cy="0"/>
          <a:chOff x="0" y="0"/>
          <a:chExt cx="0" cy="0"/>
        </a:xfrm>
      </p:grpSpPr>
      <p:sp>
        <p:nvSpPr>
          <p:cNvPr id="3" name="Google Shape;56;p13">
            <a:extLst>
              <a:ext uri="{FF2B5EF4-FFF2-40B4-BE49-F238E27FC236}">
                <a16:creationId xmlns:a16="http://schemas.microsoft.com/office/drawing/2014/main" id="{F045068A-58F6-072E-2F8F-9C6BB9AB1446}"/>
              </a:ext>
            </a:extLst>
          </p:cNvPr>
          <p:cNvSpPr txBox="1"/>
          <p:nvPr/>
        </p:nvSpPr>
        <p:spPr>
          <a:xfrm>
            <a:off x="178905" y="60098"/>
            <a:ext cx="11052313" cy="573973"/>
          </a:xfrm>
          <a:prstGeom prst="rect">
            <a:avLst/>
          </a:prstGeom>
          <a:noFill/>
          <a:ln>
            <a:noFill/>
          </a:ln>
        </p:spPr>
        <p:txBody>
          <a:bodyPr spcFirstLastPara="1" wrap="square" lIns="91425" tIns="91425" rIns="91425" bIns="91425" anchor="t" anchorCtr="0">
            <a:spAutoFit/>
          </a:bodyPr>
          <a:lstStyle/>
          <a:p>
            <a:pPr marL="0" lvl="0" indent="0" rtl="0">
              <a:lnSpc>
                <a:spcPct val="115000"/>
              </a:lnSpc>
              <a:spcBef>
                <a:spcPts val="0"/>
              </a:spcBef>
              <a:spcAft>
                <a:spcPts val="0"/>
              </a:spcAft>
              <a:buNone/>
            </a:pPr>
            <a:r>
              <a:rPr lang="en-US" sz="2200" dirty="0">
                <a:solidFill>
                  <a:srgbClr val="FFFFFF"/>
                </a:solidFill>
              </a:rPr>
              <a:t>Literature Survey</a:t>
            </a:r>
          </a:p>
        </p:txBody>
      </p:sp>
      <p:sp>
        <p:nvSpPr>
          <p:cNvPr id="4" name="Rectangle 3">
            <a:extLst>
              <a:ext uri="{FF2B5EF4-FFF2-40B4-BE49-F238E27FC236}">
                <a16:creationId xmlns:a16="http://schemas.microsoft.com/office/drawing/2014/main" id="{A2501F1B-814A-E734-ABEC-9950A41FE004}"/>
              </a:ext>
            </a:extLst>
          </p:cNvPr>
          <p:cNvSpPr/>
          <p:nvPr/>
        </p:nvSpPr>
        <p:spPr>
          <a:xfrm>
            <a:off x="6250940" y="3508543"/>
            <a:ext cx="5601653" cy="23569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Graph-Based Route Optimization for Precision Spraying (</a:t>
            </a:r>
            <a:r>
              <a:rPr lang="en-US" b="1" dirty="0" err="1">
                <a:solidFill>
                  <a:schemeClr val="tx1"/>
                </a:solidFill>
              </a:rPr>
              <a:t>SprayCraft</a:t>
            </a:r>
            <a:r>
              <a:rPr lang="en-US" b="1" dirty="0">
                <a:solidFill>
                  <a:schemeClr val="tx1"/>
                </a:solidFill>
              </a:rPr>
              <a:t>)</a:t>
            </a:r>
            <a:endParaRPr lang="en-US" b="1" dirty="0">
              <a:solidFill>
                <a:schemeClr val="tx1"/>
              </a:solidFill>
              <a:ea typeface="Calibri"/>
              <a:cs typeface="Calibri"/>
            </a:endParaRPr>
          </a:p>
          <a:p>
            <a:pPr marL="285750" indent="-285750">
              <a:buFont typeface="Arial"/>
              <a:buChar char="•"/>
            </a:pPr>
            <a:r>
              <a:rPr lang="en-US" dirty="0" err="1">
                <a:solidFill>
                  <a:schemeClr val="bg1"/>
                </a:solidFill>
                <a:latin typeface="Calibri"/>
                <a:ea typeface="Geist"/>
                <a:cs typeface="Geist" pitchFamily="34" charset="-120"/>
              </a:rPr>
              <a:t>SprayCraft</a:t>
            </a:r>
            <a:r>
              <a:rPr lang="en-US" dirty="0">
                <a:solidFill>
                  <a:schemeClr val="bg1"/>
                </a:solidFill>
                <a:latin typeface="Calibri"/>
                <a:ea typeface="Geist"/>
                <a:cs typeface="Geist" pitchFamily="34" charset="-120"/>
              </a:rPr>
              <a:t> framework models infected hotspots as graph nodes.</a:t>
            </a:r>
            <a:endParaRPr lang="en-US" dirty="0">
              <a:solidFill>
                <a:schemeClr val="bg1"/>
              </a:solidFill>
              <a:latin typeface="Calibri"/>
              <a:ea typeface="Geist"/>
              <a:cs typeface="Calibri" panose="020F0502020204030204"/>
            </a:endParaRPr>
          </a:p>
          <a:p>
            <a:pPr marL="285750" indent="-285750">
              <a:buFont typeface="Arial"/>
              <a:buChar char="•"/>
            </a:pPr>
            <a:r>
              <a:rPr lang="en-US" dirty="0">
                <a:solidFill>
                  <a:schemeClr val="bg1"/>
                </a:solidFill>
                <a:latin typeface="Calibri"/>
                <a:ea typeface="Geist"/>
                <a:cs typeface="Geist" pitchFamily="34" charset="-120"/>
              </a:rPr>
              <a:t>Uses graph algorithms(GNN) to compute near-optimal traversal paths for targeted spraying. </a:t>
            </a:r>
            <a:endParaRPr lang="en-US" dirty="0">
              <a:solidFill>
                <a:schemeClr val="bg1"/>
              </a:solidFill>
              <a:latin typeface="Calibri"/>
              <a:ea typeface="Geist"/>
              <a:cs typeface="Calibri" panose="020F0502020204030204"/>
            </a:endParaRPr>
          </a:p>
        </p:txBody>
      </p:sp>
      <p:sp>
        <p:nvSpPr>
          <p:cNvPr id="6" name="Rectangle 5">
            <a:extLst>
              <a:ext uri="{FF2B5EF4-FFF2-40B4-BE49-F238E27FC236}">
                <a16:creationId xmlns:a16="http://schemas.microsoft.com/office/drawing/2014/main" id="{8B50DCA8-E271-F4D8-251A-0D4124A4927C}"/>
              </a:ext>
            </a:extLst>
          </p:cNvPr>
          <p:cNvSpPr/>
          <p:nvPr/>
        </p:nvSpPr>
        <p:spPr>
          <a:xfrm>
            <a:off x="259715" y="3508544"/>
            <a:ext cx="5601653" cy="247616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UAV–AI Integration for Targeted Disease Detection</a:t>
            </a:r>
            <a:endParaRPr lang="en-US" dirty="0">
              <a:solidFill>
                <a:schemeClr val="bg1"/>
              </a:solidFill>
              <a:latin typeface="Calibri"/>
              <a:ea typeface="Geist"/>
              <a:cs typeface="Geist" pitchFamily="34" charset="-120"/>
            </a:endParaRPr>
          </a:p>
          <a:p>
            <a:pPr marL="285750" indent="-285750">
              <a:lnSpc>
                <a:spcPts val="2250"/>
              </a:lnSpc>
              <a:buFont typeface="Arial" panose="020B0604020202020204" pitchFamily="34" charset="0"/>
              <a:buChar char="•"/>
            </a:pPr>
            <a:r>
              <a:rPr lang="en-US" dirty="0"/>
              <a:t>The authors systematically analyze how UAV models (types of drones), sensor payloads (cameras, scanners), and computational methods (ML/DL algorithms) are used for targeted disease detection, weed management, and pest control.</a:t>
            </a:r>
          </a:p>
          <a:p>
            <a:pPr marL="285750" indent="-285750">
              <a:lnSpc>
                <a:spcPts val="2250"/>
              </a:lnSpc>
              <a:buFont typeface="Arial" panose="020B0604020202020204" pitchFamily="34" charset="0"/>
              <a:buChar char="•"/>
            </a:pPr>
            <a:r>
              <a:rPr lang="en-US" dirty="0">
                <a:solidFill>
                  <a:schemeClr val="bg1"/>
                </a:solidFill>
                <a:latin typeface="Calibri"/>
                <a:ea typeface="Geist"/>
                <a:cs typeface="Geist" pitchFamily="34" charset="-120"/>
              </a:rPr>
              <a:t>Emphasizes scalability, precision, and operational efficiency. </a:t>
            </a:r>
            <a:endParaRPr lang="en-US" dirty="0">
              <a:solidFill>
                <a:schemeClr val="bg1"/>
              </a:solidFill>
              <a:latin typeface="Calibri"/>
              <a:ea typeface="Geist"/>
              <a:cs typeface="Calibri" panose="020F0502020204030204"/>
            </a:endParaRPr>
          </a:p>
        </p:txBody>
      </p:sp>
      <p:sp>
        <p:nvSpPr>
          <p:cNvPr id="7" name="Rectangle 6">
            <a:extLst>
              <a:ext uri="{FF2B5EF4-FFF2-40B4-BE49-F238E27FC236}">
                <a16:creationId xmlns:a16="http://schemas.microsoft.com/office/drawing/2014/main" id="{A954784A-DC8E-680A-FCB0-8B097F1D7704}"/>
              </a:ext>
            </a:extLst>
          </p:cNvPr>
          <p:cNvSpPr/>
          <p:nvPr/>
        </p:nvSpPr>
        <p:spPr>
          <a:xfrm>
            <a:off x="6250940" y="992505"/>
            <a:ext cx="5601970" cy="22698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Deep Learning on Satellite Imagery for Crop Analysis</a:t>
            </a:r>
            <a:endParaRPr lang="en-IN" b="1" dirty="0">
              <a:solidFill>
                <a:schemeClr val="tx1"/>
              </a:solidFill>
              <a:ea typeface="Calibri"/>
              <a:cs typeface="Calibri"/>
            </a:endParaRPr>
          </a:p>
          <a:p>
            <a:pPr marL="285750" indent="-285750">
              <a:buFont typeface="Arial"/>
              <a:buChar char="•"/>
            </a:pPr>
            <a:r>
              <a:rPr lang="en-US" dirty="0">
                <a:solidFill>
                  <a:schemeClr val="bg1"/>
                </a:solidFill>
                <a:latin typeface="Calibri"/>
                <a:ea typeface="Geist"/>
                <a:cs typeface="Geist" pitchFamily="34" charset="-120"/>
              </a:rPr>
              <a:t>Surveys deep learning models applied to satellite imagery.</a:t>
            </a:r>
          </a:p>
          <a:p>
            <a:pPr marL="285750" indent="-285750">
              <a:buFont typeface="Arial"/>
              <a:buChar char="•"/>
            </a:pPr>
            <a:r>
              <a:rPr lang="en-US" dirty="0"/>
              <a:t>Shows four input “data shapes” used in agriculture: a single pixel (Type P), a temporal pixel sequence (T), a single 2D image (S) or a </a:t>
            </a:r>
            <a:r>
              <a:rPr lang="en-US" dirty="0" err="1"/>
              <a:t>spatio</a:t>
            </a:r>
            <a:r>
              <a:rPr lang="en-US" dirty="0"/>
              <a:t>-temporal image series (ST). Each shape can be </a:t>
            </a:r>
            <a:r>
              <a:rPr lang="en-US" b="1" dirty="0"/>
              <a:t>interpreted</a:t>
            </a:r>
            <a:r>
              <a:rPr lang="en-US" dirty="0"/>
              <a:t> in different ways for modeling.</a:t>
            </a:r>
            <a:endParaRPr lang="en-US" dirty="0">
              <a:solidFill>
                <a:schemeClr val="bg1"/>
              </a:solidFill>
              <a:latin typeface="Calibri"/>
              <a:ea typeface="Geist"/>
              <a:cs typeface="Calibri" panose="020F0502020204030204"/>
            </a:endParaRPr>
          </a:p>
        </p:txBody>
      </p:sp>
      <p:sp>
        <p:nvSpPr>
          <p:cNvPr id="9" name="Rectangle 8">
            <a:extLst>
              <a:ext uri="{FF2B5EF4-FFF2-40B4-BE49-F238E27FC236}">
                <a16:creationId xmlns:a16="http://schemas.microsoft.com/office/drawing/2014/main" id="{66813ED8-6A2A-7B54-63BA-FA3118955691}"/>
              </a:ext>
            </a:extLst>
          </p:cNvPr>
          <p:cNvSpPr/>
          <p:nvPr/>
        </p:nvSpPr>
        <p:spPr>
          <a:xfrm>
            <a:off x="259715" y="994093"/>
            <a:ext cx="5601970" cy="22698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chemeClr val="tx1"/>
                </a:solidFill>
              </a:rPr>
              <a:t>Automated Plant Disease Detection via Remote Sensing</a:t>
            </a:r>
            <a:endParaRPr lang="en-US" b="1" dirty="0">
              <a:solidFill>
                <a:schemeClr val="tx1"/>
              </a:solidFill>
              <a:ea typeface="Calibri"/>
              <a:cs typeface="Calibri"/>
            </a:endParaRPr>
          </a:p>
          <a:p>
            <a:pPr marL="285750" indent="-285750">
              <a:buFont typeface="Arial"/>
              <a:buChar char="•"/>
            </a:pPr>
            <a:r>
              <a:rPr lang="en-US" dirty="0">
                <a:solidFill>
                  <a:schemeClr val="bg1"/>
                </a:solidFill>
                <a:ea typeface="+mn-lt"/>
                <a:cs typeface="+mn-lt"/>
              </a:rPr>
              <a:t>Systematic reviews highlight AI and image‐processing methods for plant disease detection using remote sensing and UAV imagery.</a:t>
            </a:r>
            <a:endParaRPr lang="en-US" dirty="0">
              <a:solidFill>
                <a:schemeClr val="bg1"/>
              </a:solidFill>
              <a:ea typeface="Geist"/>
              <a:cs typeface="+mn-lt"/>
            </a:endParaRPr>
          </a:p>
          <a:p>
            <a:pPr marL="285750" indent="-285750">
              <a:buFont typeface="Arial"/>
              <a:buChar char="•"/>
            </a:pPr>
            <a:r>
              <a:rPr lang="en-US" i="1" dirty="0">
                <a:solidFill>
                  <a:schemeClr val="bg1"/>
                </a:solidFill>
                <a:ea typeface="+mn-lt"/>
                <a:cs typeface="+mn-lt"/>
              </a:rPr>
              <a:t>Dataset used : </a:t>
            </a:r>
            <a:r>
              <a:rPr lang="en-US" i="1" dirty="0" err="1">
                <a:solidFill>
                  <a:schemeClr val="bg1"/>
                </a:solidFill>
                <a:ea typeface="+mn-lt"/>
                <a:cs typeface="+mn-lt"/>
              </a:rPr>
              <a:t>PlantVilage</a:t>
            </a:r>
            <a:endParaRPr lang="en-US" i="1" dirty="0">
              <a:solidFill>
                <a:schemeClr val="bg1"/>
              </a:solidFill>
              <a:ea typeface="+mn-lt"/>
              <a:cs typeface="+mn-lt"/>
            </a:endParaRPr>
          </a:p>
          <a:p>
            <a:pPr marL="285750" indent="-285750">
              <a:buFont typeface="Arial"/>
              <a:buChar char="•"/>
            </a:pPr>
            <a:r>
              <a:rPr lang="en-US" i="1" dirty="0">
                <a:solidFill>
                  <a:schemeClr val="bg1"/>
                </a:solidFill>
                <a:latin typeface="Calibri"/>
                <a:ea typeface="Geist"/>
                <a:cs typeface="+mn-lt"/>
              </a:rPr>
              <a:t>Models used : </a:t>
            </a:r>
            <a:r>
              <a:rPr lang="en-IN" dirty="0"/>
              <a:t>LeNet, </a:t>
            </a:r>
            <a:r>
              <a:rPr lang="en-IN" dirty="0" err="1"/>
              <a:t>AlexNet</a:t>
            </a:r>
            <a:r>
              <a:rPr lang="en-IN" dirty="0"/>
              <a:t>, VGG16/19, ResNet50, </a:t>
            </a:r>
            <a:r>
              <a:rPr lang="en-IN" dirty="0" err="1"/>
              <a:t>Xception</a:t>
            </a:r>
            <a:r>
              <a:rPr lang="en-IN" dirty="0"/>
              <a:t>, </a:t>
            </a:r>
            <a:r>
              <a:rPr lang="en-IN" dirty="0" err="1"/>
              <a:t>SqueezeNet</a:t>
            </a:r>
            <a:r>
              <a:rPr lang="en-IN" dirty="0"/>
              <a:t> and </a:t>
            </a:r>
            <a:r>
              <a:rPr lang="en-IN" dirty="0" err="1"/>
              <a:t>EfficientNet</a:t>
            </a:r>
            <a:r>
              <a:rPr lang="en-IN" dirty="0"/>
              <a:t>,</a:t>
            </a:r>
            <a:r>
              <a:rPr lang="nb-NO" dirty="0"/>
              <a:t> SVM, Random Forest, Decision Trees, kNN.</a:t>
            </a:r>
            <a:endParaRPr lang="en-US" i="1" dirty="0">
              <a:solidFill>
                <a:schemeClr val="bg1"/>
              </a:solidFill>
              <a:latin typeface="Calibri"/>
              <a:ea typeface="Geist"/>
              <a:cs typeface="+mn-lt"/>
            </a:endParaRPr>
          </a:p>
        </p:txBody>
      </p:sp>
    </p:spTree>
    <p:extLst>
      <p:ext uri="{BB962C8B-B14F-4D97-AF65-F5344CB8AC3E}">
        <p14:creationId xmlns:p14="http://schemas.microsoft.com/office/powerpoint/2010/main" val="1896353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96389" y="1018902"/>
            <a:ext cx="11364684" cy="5488775"/>
          </a:xfrm>
        </p:spPr>
        <p:txBody>
          <a:bodyPr lIns="91440" tIns="45720" rIns="91440" bIns="45720" anchor="t"/>
          <a:lstStyle/>
          <a:p>
            <a:r>
              <a:rPr lang="en-IN" sz="2400" dirty="0">
                <a:latin typeface="+mn-lt"/>
              </a:rPr>
              <a:t>Satellite Source: Google Earth Engine API (Sentinel-2).</a:t>
            </a:r>
          </a:p>
          <a:p>
            <a:r>
              <a:rPr lang="en-US" sz="2400" dirty="0">
                <a:latin typeface="+mn-lt"/>
              </a:rPr>
              <a:t>Training Data: Synthetic samples with realistic disease patterns.</a:t>
            </a:r>
          </a:p>
          <a:p>
            <a:r>
              <a:rPr lang="en-US" sz="2400" dirty="0">
                <a:latin typeface="+mn-lt"/>
              </a:rPr>
              <a:t>Multi-Modal Architecture combining satellite, spectral, and weather data.</a:t>
            </a:r>
            <a:endParaRPr lang="en-US" sz="2400" dirty="0">
              <a:solidFill>
                <a:srgbClr val="000000"/>
              </a:solidFill>
              <a:latin typeface="+mn-lt"/>
              <a:ea typeface="Geist"/>
              <a:cs typeface="Geist" pitchFamily="34" charset="-120"/>
            </a:endParaRPr>
          </a:p>
          <a:p>
            <a:r>
              <a:rPr lang="en-US" sz="2400" dirty="0">
                <a:solidFill>
                  <a:srgbClr val="000000"/>
                </a:solidFill>
                <a:latin typeface="Calibri"/>
                <a:ea typeface="Geist"/>
                <a:cs typeface="Geist" pitchFamily="34" charset="-120"/>
              </a:rPr>
              <a:t>Graph algorithms for optimized spraying paths.</a:t>
            </a:r>
            <a:endParaRPr lang="en-US" sz="2400" dirty="0">
              <a:latin typeface="Calibri"/>
              <a:ea typeface="Geist"/>
            </a:endParaRPr>
          </a:p>
          <a:p>
            <a:r>
              <a:rPr lang="en-US" sz="2400" dirty="0">
                <a:solidFill>
                  <a:srgbClr val="000000"/>
                </a:solidFill>
                <a:latin typeface="Calibri"/>
                <a:ea typeface="Geist"/>
                <a:cs typeface="Geist" pitchFamily="34" charset="-120"/>
              </a:rPr>
              <a:t>Geographic Information System and mapping tools for visualization.</a:t>
            </a:r>
          </a:p>
          <a:p>
            <a:endParaRPr lang="en-US" sz="2400" dirty="0">
              <a:latin typeface="Calibri"/>
              <a:ea typeface="Geist"/>
            </a:endParaRPr>
          </a:p>
          <a:p>
            <a:pPr marL="0" indent="0">
              <a:buNone/>
            </a:pPr>
            <a:endParaRPr lang="en-IN" sz="3600" dirty="0">
              <a:latin typeface="Calibri"/>
              <a:ea typeface="Calibri"/>
            </a:endParaRPr>
          </a:p>
        </p:txBody>
      </p:sp>
      <p:sp>
        <p:nvSpPr>
          <p:cNvPr id="3" name="TextBox 2"/>
          <p:cNvSpPr txBox="1"/>
          <p:nvPr/>
        </p:nvSpPr>
        <p:spPr>
          <a:xfrm>
            <a:off x="322217" y="126274"/>
            <a:ext cx="7779046" cy="461665"/>
          </a:xfrm>
          <a:prstGeom prst="rect">
            <a:avLst/>
          </a:prstGeom>
          <a:noFill/>
        </p:spPr>
        <p:txBody>
          <a:bodyPr wrap="square" lIns="91440" tIns="45720" rIns="91440" bIns="45720" rtlCol="0" anchor="t">
            <a:spAutoFit/>
          </a:bodyPr>
          <a:lstStyle/>
          <a:p>
            <a:r>
              <a:rPr lang="en-US" sz="2400">
                <a:solidFill>
                  <a:schemeClr val="bg1"/>
                </a:solidFill>
              </a:rPr>
              <a:t>Overview of Technology Stack</a:t>
            </a:r>
            <a:endParaRPr lang="en-IN" sz="2400">
              <a:solidFill>
                <a:schemeClr val="bg1"/>
              </a:solidFill>
            </a:endParaRPr>
          </a:p>
        </p:txBody>
      </p:sp>
    </p:spTree>
    <p:extLst>
      <p:ext uri="{BB962C8B-B14F-4D97-AF65-F5344CB8AC3E}">
        <p14:creationId xmlns:p14="http://schemas.microsoft.com/office/powerpoint/2010/main" val="2601326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A9493-EC89-DE69-099B-C497E6E2AC8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471A66-BF85-1011-AD24-8A01B7E4B2D0}"/>
              </a:ext>
            </a:extLst>
          </p:cNvPr>
          <p:cNvSpPr>
            <a:spLocks noGrp="1"/>
          </p:cNvSpPr>
          <p:nvPr>
            <p:ph idx="1"/>
          </p:nvPr>
        </p:nvSpPr>
        <p:spPr>
          <a:xfrm>
            <a:off x="496388" y="712520"/>
            <a:ext cx="11568941" cy="5795158"/>
          </a:xfrm>
        </p:spPr>
        <p:txBody>
          <a:bodyPr lIns="91440" tIns="45720" rIns="91440" bIns="45720" anchor="t"/>
          <a:lstStyle/>
          <a:p>
            <a:pPr marL="0" indent="0">
              <a:buNone/>
            </a:pPr>
            <a:endParaRPr lang="en-US" sz="1400" dirty="0">
              <a:latin typeface="Calibri"/>
              <a:ea typeface="Geist"/>
            </a:endParaRPr>
          </a:p>
          <a:p>
            <a:pPr marL="0" indent="0">
              <a:buNone/>
            </a:pPr>
            <a:r>
              <a:rPr lang="en-US" sz="1600" b="1" dirty="0"/>
              <a:t>Red and Near-Infrared (NIR) Bands:</a:t>
            </a:r>
            <a:r>
              <a:rPr lang="en-US" sz="1600" dirty="0"/>
              <a:t> Healthy vegetation strongly absorbs red light for photosynthesis and reflects near-infrared light. By comparing the reflectance values of these two bands, we can calculate vegetation indices like the NDVI, which is a powerful indicator of plant health, density, and growth stage</a:t>
            </a:r>
          </a:p>
          <a:p>
            <a:pPr marL="0" indent="0">
              <a:buNone/>
            </a:pPr>
            <a:r>
              <a:rPr lang="en-US" sz="1600" b="1" dirty="0"/>
              <a:t>Red-Edge Bands:</a:t>
            </a:r>
            <a:r>
              <a:rPr lang="en-US" sz="1600" dirty="0"/>
              <a:t> Sentinel-2  having "red-edge" bands, which are particularly sensitive to changes in chlorophyll content. These bands are crucial for the early detection of crop stress and diseases.</a:t>
            </a:r>
          </a:p>
          <a:p>
            <a:pPr marL="0" indent="0">
              <a:buNone/>
            </a:pPr>
            <a:r>
              <a:rPr lang="en-US" sz="1600" b="1" dirty="0"/>
              <a:t>B4 (Red, 665 nm):</a:t>
            </a:r>
            <a:r>
              <a:rPr lang="en-US" sz="1600" dirty="0"/>
              <a:t> Sensitive to chlorophyll absorption.</a:t>
            </a:r>
          </a:p>
          <a:p>
            <a:pPr marL="0" indent="0">
              <a:buNone/>
            </a:pPr>
            <a:r>
              <a:rPr lang="en-US" sz="1600" b="1" dirty="0"/>
              <a:t>B8 (NIR, 842 nm):</a:t>
            </a:r>
            <a:r>
              <a:rPr lang="en-US" sz="1600" dirty="0"/>
              <a:t> Sensitive to cell structure in leaves.</a:t>
            </a:r>
          </a:p>
          <a:p>
            <a:pPr marL="0" indent="0">
              <a:buNone/>
            </a:pPr>
            <a:r>
              <a:rPr lang="en-US" sz="1600" b="1" dirty="0"/>
              <a:t>B5/B6/B7 (Red-edge, 705–783 nm):</a:t>
            </a:r>
            <a:r>
              <a:rPr lang="en-US" sz="1600" dirty="0"/>
              <a:t> Detects changes </a:t>
            </a:r>
          </a:p>
          <a:p>
            <a:pPr marL="0" indent="0">
              <a:buNone/>
            </a:pPr>
            <a:r>
              <a:rPr lang="en-US" sz="1600" dirty="0"/>
              <a:t>in chlorophyll concentration before they’re visible in RGB.</a:t>
            </a:r>
          </a:p>
          <a:p>
            <a:pPr marL="0" indent="0">
              <a:buNone/>
            </a:pPr>
            <a:r>
              <a:rPr lang="en-US" sz="1600" b="1" dirty="0"/>
              <a:t>B11/B12 (SWIR, 1610–2190 nm):</a:t>
            </a:r>
            <a:r>
              <a:rPr lang="en-US" sz="1600" dirty="0"/>
              <a:t> Sensitive to moisture</a:t>
            </a:r>
          </a:p>
          <a:p>
            <a:pPr marL="0" indent="0">
              <a:buNone/>
            </a:pPr>
            <a:r>
              <a:rPr lang="en-US" sz="1600" dirty="0"/>
              <a:t> content and stress.</a:t>
            </a:r>
          </a:p>
          <a:p>
            <a:pPr marL="0" indent="0">
              <a:buNone/>
            </a:pPr>
            <a:endParaRPr lang="en-IN" sz="2000" dirty="0">
              <a:latin typeface="Calibri"/>
              <a:ea typeface="Calibri"/>
            </a:endParaRPr>
          </a:p>
        </p:txBody>
      </p:sp>
      <p:sp>
        <p:nvSpPr>
          <p:cNvPr id="3" name="TextBox 2">
            <a:extLst>
              <a:ext uri="{FF2B5EF4-FFF2-40B4-BE49-F238E27FC236}">
                <a16:creationId xmlns:a16="http://schemas.microsoft.com/office/drawing/2014/main" id="{55C46FD2-14B8-CF83-02BB-073D45DDEECC}"/>
              </a:ext>
            </a:extLst>
          </p:cNvPr>
          <p:cNvSpPr txBox="1"/>
          <p:nvPr/>
        </p:nvSpPr>
        <p:spPr>
          <a:xfrm>
            <a:off x="223256" y="187905"/>
            <a:ext cx="7779046" cy="830997"/>
          </a:xfrm>
          <a:prstGeom prst="rect">
            <a:avLst/>
          </a:prstGeom>
          <a:noFill/>
        </p:spPr>
        <p:txBody>
          <a:bodyPr wrap="square" lIns="91440" tIns="45720" rIns="91440" bIns="45720" rtlCol="0" anchor="t">
            <a:spAutoFit/>
          </a:bodyPr>
          <a:lstStyle/>
          <a:p>
            <a:r>
              <a:rPr lang="en-US" sz="2400" dirty="0">
                <a:solidFill>
                  <a:schemeClr val="bg1"/>
                </a:solidFill>
              </a:rPr>
              <a:t>How is sentinel Imagery used?</a:t>
            </a:r>
          </a:p>
          <a:p>
            <a:endParaRPr lang="en-IN" sz="2400" dirty="0">
              <a:solidFill>
                <a:schemeClr val="bg1"/>
              </a:solidFill>
            </a:endParaRPr>
          </a:p>
        </p:txBody>
      </p:sp>
      <p:pic>
        <p:nvPicPr>
          <p:cNvPr id="5" name="Picture 4">
            <a:extLst>
              <a:ext uri="{FF2B5EF4-FFF2-40B4-BE49-F238E27FC236}">
                <a16:creationId xmlns:a16="http://schemas.microsoft.com/office/drawing/2014/main" id="{05587BC8-55B7-BFB1-EB26-7A83A612C5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3906" y="2280062"/>
            <a:ext cx="6137167" cy="3562598"/>
          </a:xfrm>
          <a:prstGeom prst="rect">
            <a:avLst/>
          </a:prstGeom>
        </p:spPr>
      </p:pic>
    </p:spTree>
    <p:extLst>
      <p:ext uri="{BB962C8B-B14F-4D97-AF65-F5344CB8AC3E}">
        <p14:creationId xmlns:p14="http://schemas.microsoft.com/office/powerpoint/2010/main" val="406276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024DC-D11C-8447-01E5-D10A44B7C10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20F9224-AFCD-5F04-B453-C2C1D00AFEBE}"/>
              </a:ext>
            </a:extLst>
          </p:cNvPr>
          <p:cNvSpPr>
            <a:spLocks noGrp="1"/>
          </p:cNvSpPr>
          <p:nvPr>
            <p:ph idx="1"/>
          </p:nvPr>
        </p:nvSpPr>
        <p:spPr/>
        <p:txBody>
          <a:bodyPr/>
          <a:lstStyle/>
          <a:p>
            <a:pPr marL="0" indent="0">
              <a:buNone/>
            </a:pPr>
            <a:endParaRPr lang="en-IN" sz="2000" dirty="0"/>
          </a:p>
        </p:txBody>
      </p:sp>
      <p:sp>
        <p:nvSpPr>
          <p:cNvPr id="3" name="TextBox 2">
            <a:extLst>
              <a:ext uri="{FF2B5EF4-FFF2-40B4-BE49-F238E27FC236}">
                <a16:creationId xmlns:a16="http://schemas.microsoft.com/office/drawing/2014/main" id="{3597BF0E-0A33-E418-91BC-75EF8FB2FE45}"/>
              </a:ext>
            </a:extLst>
          </p:cNvPr>
          <p:cNvSpPr txBox="1"/>
          <p:nvPr/>
        </p:nvSpPr>
        <p:spPr>
          <a:xfrm>
            <a:off x="322217" y="126274"/>
            <a:ext cx="7779046" cy="830997"/>
          </a:xfrm>
          <a:prstGeom prst="rect">
            <a:avLst/>
          </a:prstGeom>
          <a:noFill/>
        </p:spPr>
        <p:txBody>
          <a:bodyPr wrap="square" rtlCol="0">
            <a:spAutoFit/>
          </a:bodyPr>
          <a:lstStyle/>
          <a:p>
            <a:r>
              <a:rPr lang="en-IN" sz="2400" dirty="0">
                <a:solidFill>
                  <a:schemeClr val="bg1"/>
                </a:solidFill>
              </a:rPr>
              <a:t>Expected Outcomes</a:t>
            </a:r>
          </a:p>
          <a:p>
            <a:endParaRPr lang="en-IN" sz="2400" dirty="0">
              <a:solidFill>
                <a:schemeClr val="bg1"/>
              </a:solidFill>
            </a:endParaRPr>
          </a:p>
        </p:txBody>
      </p:sp>
      <p:sp>
        <p:nvSpPr>
          <p:cNvPr id="5" name="Rectangle 4">
            <a:extLst>
              <a:ext uri="{FF2B5EF4-FFF2-40B4-BE49-F238E27FC236}">
                <a16:creationId xmlns:a16="http://schemas.microsoft.com/office/drawing/2014/main" id="{D1B848B6-54A1-D80B-3333-E2EBA4723C23}"/>
              </a:ext>
            </a:extLst>
          </p:cNvPr>
          <p:cNvSpPr/>
          <p:nvPr/>
        </p:nvSpPr>
        <p:spPr>
          <a:xfrm>
            <a:off x="6808703" y="3666707"/>
            <a:ext cx="5053595" cy="202157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rgbClr val="000000"/>
                </a:solidFill>
                <a:latin typeface="Calibri"/>
                <a:ea typeface="Noto Serif SC Bold"/>
                <a:cs typeface="Noto Serif SC Bold" pitchFamily="34" charset="-120"/>
              </a:rPr>
              <a:t>Scalable &amp; Adaptable Solution</a:t>
            </a:r>
          </a:p>
          <a:p>
            <a:pPr algn="ctr"/>
            <a:endParaRPr lang="en-US" dirty="0"/>
          </a:p>
          <a:p>
            <a:pPr marL="285750" indent="-285750">
              <a:buFont typeface="Arial" panose="020B0604020202020204" pitchFamily="34" charset="0"/>
              <a:buChar char="•"/>
            </a:pPr>
            <a:r>
              <a:rPr lang="en-US" dirty="0">
                <a:solidFill>
                  <a:schemeClr val="bg1"/>
                </a:solidFill>
                <a:latin typeface="Calibri"/>
                <a:ea typeface="Geist"/>
                <a:cs typeface="Geist" pitchFamily="34" charset="-120"/>
              </a:rPr>
              <a:t>Applicable to diverse crops and regions</a:t>
            </a:r>
            <a:endParaRPr lang="en-US">
              <a:solidFill>
                <a:schemeClr val="bg1"/>
              </a:solidFill>
              <a:latin typeface="Calibri"/>
              <a:ea typeface="Geist"/>
              <a:cs typeface="Calibri"/>
            </a:endParaRPr>
          </a:p>
          <a:p>
            <a:pPr marL="285750" indent="-285750">
              <a:buFont typeface="Arial" panose="020B0604020202020204" pitchFamily="34" charset="0"/>
              <a:buChar char="•"/>
            </a:pPr>
            <a:r>
              <a:rPr lang="en-US" dirty="0">
                <a:solidFill>
                  <a:schemeClr val="bg1"/>
                </a:solidFill>
                <a:latin typeface="Calibri"/>
                <a:ea typeface="Geist"/>
                <a:cs typeface="Geist" pitchFamily="34" charset="-120"/>
              </a:rPr>
              <a:t>Works with any geospatial dataset </a:t>
            </a:r>
            <a:r>
              <a:rPr lang="en-US">
                <a:solidFill>
                  <a:schemeClr val="bg1"/>
                </a:solidFill>
                <a:latin typeface="Calibri"/>
                <a:ea typeface="Geist"/>
                <a:cs typeface="Geist" pitchFamily="34" charset="-120"/>
              </a:rPr>
              <a:t>(satellite/drone imagery).</a:t>
            </a:r>
            <a:endParaRPr lang="en-US">
              <a:solidFill>
                <a:schemeClr val="bg1"/>
              </a:solidFill>
              <a:latin typeface="Calibri"/>
              <a:ea typeface="+mn-lt"/>
              <a:cs typeface="+mn-lt"/>
            </a:endParaRPr>
          </a:p>
          <a:p>
            <a:pPr algn="ctr"/>
            <a:endParaRPr lang="en-IN" dirty="0"/>
          </a:p>
        </p:txBody>
      </p:sp>
      <p:sp>
        <p:nvSpPr>
          <p:cNvPr id="6" name="Rectangle 5">
            <a:extLst>
              <a:ext uri="{FF2B5EF4-FFF2-40B4-BE49-F238E27FC236}">
                <a16:creationId xmlns:a16="http://schemas.microsoft.com/office/drawing/2014/main" id="{42187FC0-93DD-1AAC-0DF9-C9105D713C40}"/>
              </a:ext>
            </a:extLst>
          </p:cNvPr>
          <p:cNvSpPr/>
          <p:nvPr/>
        </p:nvSpPr>
        <p:spPr>
          <a:xfrm>
            <a:off x="497616" y="3666204"/>
            <a:ext cx="5051200" cy="20265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dirty="0">
                <a:solidFill>
                  <a:srgbClr val="000000"/>
                </a:solidFill>
                <a:latin typeface="Calibri"/>
                <a:ea typeface="Noto Serif SC Bold"/>
                <a:cs typeface="Noto Serif SC Bold" pitchFamily="34" charset="-120"/>
              </a:rPr>
              <a:t>Interactive Dashboard</a:t>
            </a:r>
          </a:p>
          <a:p>
            <a:pPr algn="ctr"/>
            <a:endParaRPr lang="en-IN" b="1" dirty="0">
              <a:solidFill>
                <a:srgbClr val="000000"/>
              </a:solidFill>
              <a:latin typeface="Calibri"/>
              <a:ea typeface="Noto Serif SC Bold" pitchFamily="34" charset="-122"/>
              <a:cs typeface="Noto Serif SC Bold" pitchFamily="34" charset="-120"/>
            </a:endParaRPr>
          </a:p>
          <a:p>
            <a:pPr marL="285750" indent="-285750">
              <a:buFont typeface="Arial" panose="020B0604020202020204" pitchFamily="34" charset="0"/>
              <a:buChar char="•"/>
            </a:pPr>
            <a:r>
              <a:rPr lang="en-US">
                <a:solidFill>
                  <a:schemeClr val="bg1"/>
                </a:solidFill>
                <a:latin typeface="Calibri"/>
                <a:ea typeface="Geist"/>
                <a:cs typeface="Geist" pitchFamily="34" charset="-120"/>
              </a:rPr>
              <a:t>Maps infected areas with visual overlays.</a:t>
            </a:r>
            <a:endParaRPr lang="en-US">
              <a:solidFill>
                <a:schemeClr val="bg1"/>
              </a:solidFill>
              <a:latin typeface="Calibri"/>
              <a:ea typeface="Calibri"/>
              <a:cs typeface="Calibri"/>
            </a:endParaRPr>
          </a:p>
          <a:p>
            <a:pPr marL="285750" indent="-285750">
              <a:buFont typeface="Arial" panose="020B0604020202020204" pitchFamily="34" charset="0"/>
              <a:buChar char="•"/>
            </a:pPr>
            <a:r>
              <a:rPr lang="en-US" dirty="0">
                <a:solidFill>
                  <a:schemeClr val="bg1"/>
                </a:solidFill>
                <a:latin typeface="Calibri"/>
                <a:ea typeface="Geist"/>
                <a:cs typeface="Geist" pitchFamily="34" charset="-120"/>
              </a:rPr>
              <a:t>Displays optimized spraying routes and </a:t>
            </a:r>
            <a:r>
              <a:rPr lang="en-US">
                <a:solidFill>
                  <a:schemeClr val="bg1"/>
                </a:solidFill>
                <a:latin typeface="Calibri"/>
                <a:ea typeface="Geist"/>
                <a:cs typeface="Geist" pitchFamily="34" charset="-120"/>
              </a:rPr>
              <a:t>navigation steps.</a:t>
            </a:r>
            <a:endParaRPr lang="en-US" dirty="0">
              <a:solidFill>
                <a:schemeClr val="bg1"/>
              </a:solidFill>
              <a:latin typeface="Calibri"/>
            </a:endParaRPr>
          </a:p>
          <a:p>
            <a:pPr algn="ctr"/>
            <a:endParaRPr lang="en-US" dirty="0"/>
          </a:p>
        </p:txBody>
      </p:sp>
      <p:sp>
        <p:nvSpPr>
          <p:cNvPr id="8" name="Rectangle 7">
            <a:extLst>
              <a:ext uri="{FF2B5EF4-FFF2-40B4-BE49-F238E27FC236}">
                <a16:creationId xmlns:a16="http://schemas.microsoft.com/office/drawing/2014/main" id="{A5FA6F82-F067-9FF7-DCD3-D4A6C91BADE2}"/>
              </a:ext>
            </a:extLst>
          </p:cNvPr>
          <p:cNvSpPr/>
          <p:nvPr/>
        </p:nvSpPr>
        <p:spPr>
          <a:xfrm>
            <a:off x="497616" y="1015079"/>
            <a:ext cx="5051200" cy="20265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000000"/>
                </a:solidFill>
                <a:latin typeface="Calibri"/>
                <a:ea typeface="Noto Serif SC Bold"/>
                <a:cs typeface="Noto Serif SC Bold" pitchFamily="34" charset="-120"/>
              </a:rPr>
              <a:t>Automated Disease Detection</a:t>
            </a:r>
            <a:endParaRPr lang="en-US" b="1">
              <a:solidFill>
                <a:srgbClr val="000000"/>
              </a:solidFill>
              <a:latin typeface="Calibri"/>
              <a:ea typeface="Noto Serif SC Bold" pitchFamily="34" charset="-122"/>
              <a:cs typeface="Noto Serif SC Bold" pitchFamily="34" charset="-120"/>
            </a:endParaRPr>
          </a:p>
          <a:p>
            <a:pPr algn="ctr"/>
            <a:endParaRPr lang="en-IN" b="1" dirty="0">
              <a:solidFill>
                <a:srgbClr val="000000"/>
              </a:solidFill>
              <a:latin typeface="Calibri"/>
              <a:ea typeface="Noto Serif SC Bold" pitchFamily="34" charset="-122"/>
              <a:cs typeface="Noto Serif SC Bold" pitchFamily="34" charset="-120"/>
            </a:endParaRPr>
          </a:p>
          <a:p>
            <a:pPr marL="285750" indent="-285750">
              <a:buFont typeface="Arial,Sans-Serif" panose="020B0604020202020204" pitchFamily="34" charset="0"/>
              <a:buChar char="•"/>
            </a:pPr>
            <a:r>
              <a:rPr lang="en-US">
                <a:solidFill>
                  <a:schemeClr val="bg1"/>
                </a:solidFill>
                <a:latin typeface="Calibri"/>
                <a:ea typeface="+mn-lt"/>
                <a:cs typeface="+mn-lt"/>
              </a:rPr>
              <a:t>Identifies healthy vs. diseased zones from Sentinel‑2 imagery.</a:t>
            </a:r>
            <a:endParaRPr lang="en-US">
              <a:solidFill>
                <a:schemeClr val="bg1"/>
              </a:solidFill>
              <a:latin typeface="Calibri"/>
              <a:ea typeface="Calibri"/>
              <a:cs typeface="Calibri"/>
            </a:endParaRPr>
          </a:p>
          <a:p>
            <a:pPr marL="285750" indent="-285750">
              <a:buFont typeface="Arial,Sans-Serif" panose="020B0604020202020204" pitchFamily="34" charset="0"/>
              <a:buChar char="•"/>
            </a:pPr>
            <a:r>
              <a:rPr lang="en-US">
                <a:solidFill>
                  <a:schemeClr val="bg1"/>
                </a:solidFill>
                <a:latin typeface="Calibri"/>
                <a:ea typeface="+mn-lt"/>
                <a:cs typeface="+mn-lt"/>
              </a:rPr>
              <a:t>Generates heatmaps of infected regions.</a:t>
            </a:r>
          </a:p>
        </p:txBody>
      </p:sp>
      <p:sp>
        <p:nvSpPr>
          <p:cNvPr id="12" name="Rectangle 11">
            <a:extLst>
              <a:ext uri="{FF2B5EF4-FFF2-40B4-BE49-F238E27FC236}">
                <a16:creationId xmlns:a16="http://schemas.microsoft.com/office/drawing/2014/main" id="{219A1ABA-286C-3794-90B0-419676FBB72B}"/>
              </a:ext>
            </a:extLst>
          </p:cNvPr>
          <p:cNvSpPr/>
          <p:nvPr/>
        </p:nvSpPr>
        <p:spPr>
          <a:xfrm>
            <a:off x="6807929" y="1015079"/>
            <a:ext cx="5051200" cy="20265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000000"/>
                </a:solidFill>
                <a:latin typeface="Calibri"/>
                <a:ea typeface="Noto Serif SC Bold"/>
                <a:cs typeface="Noto Serif SC Bold" pitchFamily="34" charset="-120"/>
              </a:rPr>
              <a:t>Optimal Routing Plan</a:t>
            </a:r>
            <a:endParaRPr lang="en-US" b="1">
              <a:solidFill>
                <a:srgbClr val="000000"/>
              </a:solidFill>
              <a:latin typeface="Calibri"/>
              <a:ea typeface="Noto Serif SC Bold" pitchFamily="34" charset="-122"/>
              <a:cs typeface="Noto Serif SC Bold" pitchFamily="34" charset="-120"/>
            </a:endParaRPr>
          </a:p>
          <a:p>
            <a:pPr algn="ctr"/>
            <a:endParaRPr lang="en-US" b="1" dirty="0">
              <a:solidFill>
                <a:srgbClr val="000000"/>
              </a:solidFill>
              <a:ea typeface="Noto Serif SC Bold"/>
              <a:cs typeface="+mn-lt"/>
            </a:endParaRPr>
          </a:p>
          <a:p>
            <a:pPr marL="285750" indent="-285750">
              <a:lnSpc>
                <a:spcPts val="3000"/>
              </a:lnSpc>
              <a:buFont typeface="Arial,Sans-Serif" panose="020B0604020202020204" pitchFamily="34" charset="0"/>
              <a:buChar char="•"/>
            </a:pPr>
            <a:r>
              <a:rPr lang="en-US">
                <a:solidFill>
                  <a:schemeClr val="bg1"/>
                </a:solidFill>
                <a:ea typeface="+mn-lt"/>
                <a:cs typeface="+mn-lt"/>
              </a:rPr>
              <a:t>Calculates shortest spraying paths within affected fields.</a:t>
            </a:r>
            <a:endParaRPr lang="en-US">
              <a:solidFill>
                <a:schemeClr val="bg1"/>
              </a:solidFill>
              <a:ea typeface="Calibri"/>
              <a:cs typeface="Calibri"/>
            </a:endParaRPr>
          </a:p>
          <a:p>
            <a:pPr marL="285750" indent="-285750">
              <a:lnSpc>
                <a:spcPts val="3000"/>
              </a:lnSpc>
              <a:buFont typeface="Arial,Sans-Serif" panose="020B0604020202020204" pitchFamily="34" charset="0"/>
              <a:buChar char="•"/>
            </a:pPr>
            <a:r>
              <a:rPr lang="en-US">
                <a:solidFill>
                  <a:schemeClr val="bg1"/>
                </a:solidFill>
                <a:ea typeface="+mn-lt"/>
                <a:cs typeface="+mn-lt"/>
              </a:rPr>
              <a:t>Minimizes travel cost, time, and pesticide usage.</a:t>
            </a:r>
            <a:endParaRPr lang="en-US">
              <a:solidFill>
                <a:schemeClr val="bg1"/>
              </a:solidFill>
              <a:ea typeface="Calibri"/>
              <a:cs typeface="Calibri"/>
            </a:endParaRPr>
          </a:p>
        </p:txBody>
      </p:sp>
    </p:spTree>
    <p:extLst>
      <p:ext uri="{BB962C8B-B14F-4D97-AF65-F5344CB8AC3E}">
        <p14:creationId xmlns:p14="http://schemas.microsoft.com/office/powerpoint/2010/main" val="2373101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452FE-80CD-5C86-3F49-A1F3ACCBC4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970500-E942-DEBA-C5C9-80705C9A542E}"/>
              </a:ext>
            </a:extLst>
          </p:cNvPr>
          <p:cNvSpPr>
            <a:spLocks noGrp="1"/>
          </p:cNvSpPr>
          <p:nvPr>
            <p:ph idx="1"/>
          </p:nvPr>
        </p:nvSpPr>
        <p:spPr/>
        <p:txBody>
          <a:bodyPr lIns="91440" tIns="45720" rIns="91440" bIns="45720" anchor="t"/>
          <a:lstStyle/>
          <a:p>
            <a:pPr>
              <a:buAutoNum type="arabicPeriod"/>
            </a:pPr>
            <a:r>
              <a:rPr lang="en-US" sz="2000" b="1" dirty="0">
                <a:latin typeface="Arial"/>
                <a:ea typeface="Calibri"/>
                <a:cs typeface="Arial"/>
                <a:hlinkClick r:id="rId2">
                  <a:extLst>
                    <a:ext uri="{A12FA001-AC4F-418D-AE19-62706E023703}">
                      <ahyp:hlinkClr xmlns:ahyp="http://schemas.microsoft.com/office/drawing/2018/hyperlinkcolor" val="tx"/>
                    </a:ext>
                  </a:extLst>
                </a:hlinkClick>
              </a:rPr>
              <a:t>Revolutionizing agriculture with artificial intelligence: plant disease detection methods, applications, and their limitations</a:t>
            </a:r>
            <a:endParaRPr lang="en-US" sz="2000" dirty="0">
              <a:ea typeface="Calibri"/>
              <a:hlinkClick r:id="rId2">
                <a:extLst>
                  <a:ext uri="{A12FA001-AC4F-418D-AE19-62706E023703}">
                    <ahyp:hlinkClr xmlns:ahyp="http://schemas.microsoft.com/office/drawing/2018/hyperlinkcolor" val="tx"/>
                  </a:ext>
                </a:extLst>
              </a:hlinkClick>
            </a:endParaRPr>
          </a:p>
          <a:p>
            <a:pPr>
              <a:buAutoNum type="arabicPeriod"/>
            </a:pPr>
            <a:r>
              <a:rPr lang="en-US" sz="2000" b="1" dirty="0">
                <a:latin typeface="Arial"/>
                <a:ea typeface="Calibri"/>
                <a:cs typeface="Arial"/>
                <a:hlinkClick r:id="rId3">
                  <a:extLst>
                    <a:ext uri="{A12FA001-AC4F-418D-AE19-62706E023703}">
                      <ahyp:hlinkClr xmlns:ahyp="http://schemas.microsoft.com/office/drawing/2018/hyperlinkcolor" val="tx"/>
                    </a:ext>
                  </a:extLst>
                </a:hlinkClick>
              </a:rPr>
              <a:t>Zhang, H., et al. (2023).</a:t>
            </a:r>
            <a:r>
              <a:rPr lang="en-US" sz="2000" dirty="0">
                <a:latin typeface="Arial"/>
                <a:ea typeface="Calibri"/>
                <a:cs typeface="Arial"/>
                <a:hlinkClick r:id="rId3">
                  <a:extLst>
                    <a:ext uri="{A12FA001-AC4F-418D-AE19-62706E023703}">
                      <ahyp:hlinkClr xmlns:ahyp="http://schemas.microsoft.com/office/drawing/2018/hyperlinkcolor" val="tx"/>
                    </a:ext>
                  </a:extLst>
                </a:hlinkClick>
              </a:rPr>
              <a:t> </a:t>
            </a:r>
            <a:r>
              <a:rPr lang="en-US" sz="2000" i="1" dirty="0">
                <a:latin typeface="Arial"/>
                <a:ea typeface="Calibri"/>
                <a:cs typeface="Arial"/>
                <a:hlinkClick r:id="rId3">
                  <a:extLst>
                    <a:ext uri="{A12FA001-AC4F-418D-AE19-62706E023703}">
                      <ahyp:hlinkClr xmlns:ahyp="http://schemas.microsoft.com/office/drawing/2018/hyperlinkcolor" val="tx"/>
                    </a:ext>
                  </a:extLst>
                </a:hlinkClick>
              </a:rPr>
              <a:t>Deep learning for satellite-based crop monitoring and disease analysis.</a:t>
            </a:r>
            <a:r>
              <a:rPr lang="en-US" sz="2000" dirty="0">
                <a:latin typeface="Arial"/>
                <a:ea typeface="Calibri"/>
                <a:cs typeface="Arial"/>
                <a:hlinkClick r:id="rId3">
                  <a:extLst>
                    <a:ext uri="{A12FA001-AC4F-418D-AE19-62706E023703}">
                      <ahyp:hlinkClr xmlns:ahyp="http://schemas.microsoft.com/office/drawing/2018/hyperlinkcolor" val="tx"/>
                    </a:ext>
                  </a:extLst>
                </a:hlinkClick>
              </a:rPr>
              <a:t> </a:t>
            </a:r>
            <a:r>
              <a:rPr lang="en-US" sz="2000" b="1" dirty="0">
                <a:latin typeface="Arial"/>
                <a:ea typeface="Calibri"/>
                <a:cs typeface="Arial"/>
                <a:hlinkClick r:id="rId3">
                  <a:extLst>
                    <a:ext uri="{A12FA001-AC4F-418D-AE19-62706E023703}">
                      <ahyp:hlinkClr xmlns:ahyp="http://schemas.microsoft.com/office/drawing/2018/hyperlinkcolor" val="tx"/>
                    </a:ext>
                  </a:extLst>
                </a:hlinkClick>
              </a:rPr>
              <a:t>arXiv preprint</a:t>
            </a:r>
            <a:r>
              <a:rPr lang="en-US" sz="2000" dirty="0">
                <a:latin typeface="Arial"/>
                <a:ea typeface="Calibri"/>
                <a:cs typeface="Arial"/>
                <a:hlinkClick r:id="rId3">
                  <a:extLst>
                    <a:ext uri="{A12FA001-AC4F-418D-AE19-62706E023703}">
                      <ahyp:hlinkClr xmlns:ahyp="http://schemas.microsoft.com/office/drawing/2018/hyperlinkcolor" val="tx"/>
                    </a:ext>
                  </a:extLst>
                </a:hlinkClick>
              </a:rPr>
              <a:t>, arXiv:2210.01272.</a:t>
            </a:r>
            <a:endParaRPr lang="en-US" dirty="0">
              <a:hlinkClick r:id="rId3">
                <a:extLst>
                  <a:ext uri="{A12FA001-AC4F-418D-AE19-62706E023703}">
                    <ahyp:hlinkClr xmlns:ahyp="http://schemas.microsoft.com/office/drawing/2018/hyperlinkcolor" val="tx"/>
                  </a:ext>
                </a:extLst>
              </a:hlinkClick>
            </a:endParaRPr>
          </a:p>
          <a:p>
            <a:pPr>
              <a:buAutoNum type="arabicPeriod"/>
            </a:pPr>
            <a:r>
              <a:rPr lang="en-US" sz="2000" b="1" dirty="0">
                <a:latin typeface="Arial"/>
                <a:ea typeface="Calibri"/>
                <a:cs typeface="Arial"/>
                <a:hlinkClick r:id="rId4">
                  <a:extLst>
                    <a:ext uri="{A12FA001-AC4F-418D-AE19-62706E023703}">
                      <ahyp:hlinkClr xmlns:ahyp="http://schemas.microsoft.com/office/drawing/2018/hyperlinkcolor" val="tx"/>
                    </a:ext>
                  </a:extLst>
                </a:hlinkClick>
              </a:rPr>
              <a:t>Torres-Sánchez, J., et al. (2024).</a:t>
            </a:r>
            <a:r>
              <a:rPr lang="en-US" sz="2000" dirty="0">
                <a:latin typeface="Arial"/>
                <a:ea typeface="Calibri"/>
                <a:cs typeface="Arial"/>
                <a:hlinkClick r:id="rId4">
                  <a:extLst>
                    <a:ext uri="{A12FA001-AC4F-418D-AE19-62706E023703}">
                      <ahyp:hlinkClr xmlns:ahyp="http://schemas.microsoft.com/office/drawing/2018/hyperlinkcolor" val="tx"/>
                    </a:ext>
                  </a:extLst>
                </a:hlinkClick>
              </a:rPr>
              <a:t> </a:t>
            </a:r>
            <a:r>
              <a:rPr lang="en-US" sz="2000" i="1" dirty="0">
                <a:latin typeface="Arial"/>
                <a:ea typeface="Calibri"/>
                <a:cs typeface="Arial"/>
                <a:hlinkClick r:id="rId4">
                  <a:extLst>
                    <a:ext uri="{A12FA001-AC4F-418D-AE19-62706E023703}">
                      <ahyp:hlinkClr xmlns:ahyp="http://schemas.microsoft.com/office/drawing/2018/hyperlinkcolor" val="tx"/>
                    </a:ext>
                  </a:extLst>
                </a:hlinkClick>
              </a:rPr>
              <a:t>UAV and AI integration for precision agriculture: A systematic review.</a:t>
            </a:r>
            <a:r>
              <a:rPr lang="en-US" sz="2000" dirty="0">
                <a:latin typeface="Arial"/>
                <a:ea typeface="Calibri"/>
                <a:cs typeface="Arial"/>
                <a:hlinkClick r:id="rId4">
                  <a:extLst>
                    <a:ext uri="{A12FA001-AC4F-418D-AE19-62706E023703}">
                      <ahyp:hlinkClr xmlns:ahyp="http://schemas.microsoft.com/office/drawing/2018/hyperlinkcolor" val="tx"/>
                    </a:ext>
                  </a:extLst>
                </a:hlinkClick>
              </a:rPr>
              <a:t> </a:t>
            </a:r>
            <a:r>
              <a:rPr lang="en-US" sz="2000" b="1" dirty="0">
                <a:latin typeface="Arial"/>
                <a:ea typeface="Calibri"/>
                <a:cs typeface="Arial"/>
                <a:hlinkClick r:id="rId4">
                  <a:extLst>
                    <a:ext uri="{A12FA001-AC4F-418D-AE19-62706E023703}">
                      <ahyp:hlinkClr xmlns:ahyp="http://schemas.microsoft.com/office/drawing/2018/hyperlinkcolor" val="tx"/>
                    </a:ext>
                  </a:extLst>
                </a:hlinkClick>
              </a:rPr>
              <a:t>ScienceDirect</a:t>
            </a:r>
            <a:r>
              <a:rPr lang="en-US" sz="2000" dirty="0">
                <a:latin typeface="Arial"/>
                <a:ea typeface="Calibri"/>
                <a:cs typeface="Arial"/>
                <a:hlinkClick r:id="rId4">
                  <a:extLst>
                    <a:ext uri="{A12FA001-AC4F-418D-AE19-62706E023703}">
                      <ahyp:hlinkClr xmlns:ahyp="http://schemas.microsoft.com/office/drawing/2018/hyperlinkcolor" val="tx"/>
                    </a:ext>
                  </a:extLst>
                </a:hlinkClick>
              </a:rPr>
              <a:t>.</a:t>
            </a:r>
            <a:endParaRPr lang="en-US" dirty="0">
              <a:hlinkClick r:id="rId4">
                <a:extLst>
                  <a:ext uri="{A12FA001-AC4F-418D-AE19-62706E023703}">
                    <ahyp:hlinkClr xmlns:ahyp="http://schemas.microsoft.com/office/drawing/2018/hyperlinkcolor" val="tx"/>
                  </a:ext>
                </a:extLst>
              </a:hlinkClick>
            </a:endParaRPr>
          </a:p>
          <a:p>
            <a:pPr>
              <a:buAutoNum type="arabicPeriod"/>
            </a:pPr>
            <a:r>
              <a:rPr lang="en-US" sz="2000" b="1" dirty="0">
                <a:latin typeface="Arial"/>
                <a:ea typeface="Calibri"/>
                <a:cs typeface="Arial"/>
                <a:hlinkClick r:id="rId5">
                  <a:extLst>
                    <a:ext uri="{A12FA001-AC4F-418D-AE19-62706E023703}">
                      <ahyp:hlinkClr xmlns:ahyp="http://schemas.microsoft.com/office/drawing/2018/hyperlinkcolor" val="tx"/>
                    </a:ext>
                  </a:extLst>
                </a:hlinkClick>
              </a:rPr>
              <a:t>Xie, Q., et al. (2024).</a:t>
            </a:r>
            <a:r>
              <a:rPr lang="en-US" sz="2000" dirty="0">
                <a:latin typeface="Arial"/>
                <a:ea typeface="Calibri"/>
                <a:cs typeface="Arial"/>
                <a:hlinkClick r:id="rId5">
                  <a:extLst>
                    <a:ext uri="{A12FA001-AC4F-418D-AE19-62706E023703}">
                      <ahyp:hlinkClr xmlns:ahyp="http://schemas.microsoft.com/office/drawing/2018/hyperlinkcolor" val="tx"/>
                    </a:ext>
                  </a:extLst>
                </a:hlinkClick>
              </a:rPr>
              <a:t> </a:t>
            </a:r>
            <a:r>
              <a:rPr lang="en-US" sz="2000" i="1" dirty="0">
                <a:latin typeface="Arial"/>
                <a:ea typeface="Calibri"/>
                <a:cs typeface="Arial"/>
                <a:hlinkClick r:id="rId5">
                  <a:extLst>
                    <a:ext uri="{A12FA001-AC4F-418D-AE19-62706E023703}">
                      <ahyp:hlinkClr xmlns:ahyp="http://schemas.microsoft.com/office/drawing/2018/hyperlinkcolor" val="tx"/>
                    </a:ext>
                  </a:extLst>
                </a:hlinkClick>
              </a:rPr>
              <a:t>SprayCraft: Graph-based route optimization for targeted pesticide application.</a:t>
            </a:r>
            <a:r>
              <a:rPr lang="en-US" sz="2000" dirty="0">
                <a:latin typeface="Arial"/>
                <a:ea typeface="Calibri"/>
                <a:cs typeface="Arial"/>
                <a:hlinkClick r:id="rId5">
                  <a:extLst>
                    <a:ext uri="{A12FA001-AC4F-418D-AE19-62706E023703}">
                      <ahyp:hlinkClr xmlns:ahyp="http://schemas.microsoft.com/office/drawing/2018/hyperlinkcolor" val="tx"/>
                    </a:ext>
                  </a:extLst>
                </a:hlinkClick>
              </a:rPr>
              <a:t> </a:t>
            </a:r>
            <a:r>
              <a:rPr lang="en-US" sz="2000" b="1" dirty="0">
                <a:latin typeface="Arial"/>
                <a:ea typeface="Calibri"/>
                <a:cs typeface="Arial"/>
                <a:hlinkClick r:id="rId5">
                  <a:extLst>
                    <a:ext uri="{A12FA001-AC4F-418D-AE19-62706E023703}">
                      <ahyp:hlinkClr xmlns:ahyp="http://schemas.microsoft.com/office/drawing/2018/hyperlinkcolor" val="tx"/>
                    </a:ext>
                  </a:extLst>
                </a:hlinkClick>
              </a:rPr>
              <a:t>arXiv preprint</a:t>
            </a:r>
            <a:r>
              <a:rPr lang="en-US" sz="2000" dirty="0">
                <a:latin typeface="Arial"/>
                <a:ea typeface="Calibri"/>
                <a:cs typeface="Arial"/>
                <a:hlinkClick r:id="rId5">
                  <a:extLst>
                    <a:ext uri="{A12FA001-AC4F-418D-AE19-62706E023703}">
                      <ahyp:hlinkClr xmlns:ahyp="http://schemas.microsoft.com/office/drawing/2018/hyperlinkcolor" val="tx"/>
                    </a:ext>
                  </a:extLst>
                </a:hlinkClick>
              </a:rPr>
              <a:t>, arXiv:2412.12176.</a:t>
            </a:r>
          </a:p>
          <a:p>
            <a:pPr>
              <a:buAutoNum type="arabicPeriod"/>
            </a:pPr>
            <a:r>
              <a:rPr lang="en-US" dirty="0">
                <a:latin typeface="Arial"/>
                <a:cs typeface="Arial"/>
                <a:hlinkClick r:id="rId5">
                  <a:extLst>
                    <a:ext uri="{A12FA001-AC4F-418D-AE19-62706E023703}">
                      <ahyp:hlinkClr xmlns:ahyp="http://schemas.microsoft.com/office/drawing/2018/hyperlinkcolor" val="tx"/>
                    </a:ext>
                  </a:extLst>
                </a:hlinkClick>
              </a:rPr>
              <a:t>https://arxiv.org/abs/2310.18268</a:t>
            </a:r>
          </a:p>
          <a:p>
            <a:pPr marL="0" indent="0">
              <a:buNone/>
            </a:pPr>
            <a:endParaRPr lang="en-IN" sz="2400" dirty="0">
              <a:ea typeface="Calibri"/>
            </a:endParaRPr>
          </a:p>
        </p:txBody>
      </p:sp>
      <p:sp>
        <p:nvSpPr>
          <p:cNvPr id="3" name="TextBox 2">
            <a:extLst>
              <a:ext uri="{FF2B5EF4-FFF2-40B4-BE49-F238E27FC236}">
                <a16:creationId xmlns:a16="http://schemas.microsoft.com/office/drawing/2014/main" id="{F76064A7-CE41-B202-8CBC-AE88817828BA}"/>
              </a:ext>
            </a:extLst>
          </p:cNvPr>
          <p:cNvSpPr txBox="1"/>
          <p:nvPr/>
        </p:nvSpPr>
        <p:spPr>
          <a:xfrm>
            <a:off x="322217" y="126274"/>
            <a:ext cx="7779046" cy="461665"/>
          </a:xfrm>
          <a:prstGeom prst="rect">
            <a:avLst/>
          </a:prstGeom>
          <a:noFill/>
        </p:spPr>
        <p:txBody>
          <a:bodyPr wrap="square" lIns="91440" tIns="45720" rIns="91440" bIns="45720" rtlCol="0" anchor="t">
            <a:spAutoFit/>
          </a:bodyPr>
          <a:lstStyle/>
          <a:p>
            <a:r>
              <a:rPr lang="en-IN" sz="2400">
                <a:solidFill>
                  <a:schemeClr val="bg1"/>
                </a:solidFill>
              </a:rPr>
              <a:t>References</a:t>
            </a:r>
            <a:endParaRPr lang="en-IN" sz="2400" dirty="0">
              <a:solidFill>
                <a:schemeClr val="bg1"/>
              </a:solidFill>
            </a:endParaRPr>
          </a:p>
        </p:txBody>
      </p:sp>
      <p:sp>
        <p:nvSpPr>
          <p:cNvPr id="4" name="Text 1">
            <a:extLst>
              <a:ext uri="{FF2B5EF4-FFF2-40B4-BE49-F238E27FC236}">
                <a16:creationId xmlns:a16="http://schemas.microsoft.com/office/drawing/2014/main" id="{9A2DD934-201F-3720-23E6-F204C507B979}"/>
              </a:ext>
            </a:extLst>
          </p:cNvPr>
          <p:cNvSpPr/>
          <p:nvPr/>
        </p:nvSpPr>
        <p:spPr>
          <a:xfrm>
            <a:off x="238163" y="4286761"/>
            <a:ext cx="11217196" cy="1950402"/>
          </a:xfrm>
          <a:prstGeom prst="rect">
            <a:avLst/>
          </a:prstGeom>
          <a:noFill/>
          <a:ln/>
        </p:spPr>
        <p:txBody>
          <a:bodyPr wrap="none" lIns="0" tIns="0" rIns="0" bIns="0" rtlCol="0" anchor="t"/>
          <a:lstStyle/>
          <a:p>
            <a:pPr marL="342900" indent="-342900" algn="l">
              <a:lnSpc>
                <a:spcPts val="2850"/>
              </a:lnSpc>
              <a:buSzPct val="100000"/>
              <a:buFont typeface="Arial"/>
              <a:buChar char="•"/>
            </a:pPr>
            <a:endParaRPr lang="en-US" i="1" dirty="0">
              <a:solidFill>
                <a:srgbClr val="000000"/>
              </a:solidFill>
              <a:latin typeface="Arial"/>
              <a:ea typeface="Geist"/>
              <a:cs typeface="Arial"/>
            </a:endParaRPr>
          </a:p>
        </p:txBody>
      </p:sp>
    </p:spTree>
    <p:extLst>
      <p:ext uri="{BB962C8B-B14F-4D97-AF65-F5344CB8AC3E}">
        <p14:creationId xmlns:p14="http://schemas.microsoft.com/office/powerpoint/2010/main" val="36974356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0DFE2B-517B-B7E1-F2FC-FDB602E5B5A5}"/>
              </a:ext>
            </a:extLst>
          </p:cNvPr>
          <p:cNvSpPr>
            <a:spLocks noGrp="1"/>
          </p:cNvSpPr>
          <p:nvPr>
            <p:ph idx="1"/>
          </p:nvPr>
        </p:nvSpPr>
        <p:spPr/>
        <p:txBody>
          <a:bodyPr/>
          <a:lstStyle/>
          <a:p>
            <a:pPr marL="0" indent="0" algn="ctr">
              <a:buNone/>
            </a:pPr>
            <a:r>
              <a:rPr lang="en-IN" sz="6600" dirty="0" err="1">
                <a:latin typeface="Arial Black" panose="020B0A04020102020204" pitchFamily="34" charset="0"/>
              </a:rPr>
              <a:t>ThankYou</a:t>
            </a:r>
            <a:endParaRPr lang="en-IN" sz="6600" dirty="0">
              <a:latin typeface="Arial Black" panose="020B0A04020102020204" pitchFamily="34" charset="0"/>
            </a:endParaRPr>
          </a:p>
        </p:txBody>
      </p:sp>
    </p:spTree>
    <p:extLst>
      <p:ext uri="{BB962C8B-B14F-4D97-AF65-F5344CB8AC3E}">
        <p14:creationId xmlns:p14="http://schemas.microsoft.com/office/powerpoint/2010/main" val="42699752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B37834-A729-71EB-DB6A-7A3D60C6A313}"/>
              </a:ext>
            </a:extLst>
          </p:cNvPr>
          <p:cNvSpPr>
            <a:spLocks noGrp="1"/>
          </p:cNvSpPr>
          <p:nvPr>
            <p:ph idx="1"/>
          </p:nvPr>
        </p:nvSpPr>
        <p:spPr>
          <a:xfrm>
            <a:off x="413658" y="1045028"/>
            <a:ext cx="11364684" cy="5533901"/>
          </a:xfrm>
        </p:spPr>
        <p:txBody>
          <a:bodyPr/>
          <a:lstStyle/>
          <a:p>
            <a:r>
              <a:rPr lang="en-US" sz="1050" dirty="0"/>
              <a:t>We simulate </a:t>
            </a:r>
            <a:r>
              <a:rPr lang="en-US" sz="1050" b="1" dirty="0"/>
              <a:t>how plant disease affects reflectance</a:t>
            </a:r>
            <a:r>
              <a:rPr lang="en-US" sz="1050" dirty="0"/>
              <a:t> based on:</a:t>
            </a:r>
          </a:p>
          <a:p>
            <a:r>
              <a:rPr lang="en-US" sz="1050" dirty="0"/>
              <a:t>Light absorption by chlorophyll &amp; pigments.</a:t>
            </a:r>
          </a:p>
          <a:p>
            <a:r>
              <a:rPr lang="en-US" sz="1050" dirty="0"/>
              <a:t>Changes in leaf structure &amp; water content.</a:t>
            </a:r>
          </a:p>
          <a:p>
            <a:r>
              <a:rPr lang="en-US" sz="1050" dirty="0"/>
              <a:t>How these changes appear in Sentinel-2’s bands.</a:t>
            </a:r>
          </a:p>
          <a:p>
            <a:r>
              <a:rPr lang="en-US" sz="1050" dirty="0"/>
              <a:t>This is guided by:</a:t>
            </a:r>
          </a:p>
          <a:p>
            <a:r>
              <a:rPr lang="en-US" sz="1050" b="1" dirty="0"/>
              <a:t>Radiative transfer models</a:t>
            </a:r>
            <a:r>
              <a:rPr lang="en-US" sz="1050" dirty="0"/>
              <a:t> (like PROSAIL).</a:t>
            </a:r>
          </a:p>
          <a:p>
            <a:r>
              <a:rPr lang="en-US" sz="1050" dirty="0"/>
              <a:t>Published spectral signatures of diseased crops.</a:t>
            </a:r>
          </a:p>
          <a:p>
            <a:r>
              <a:rPr lang="en-US" sz="1050" dirty="0"/>
              <a:t>Field-level knowledge from plant pathology.</a:t>
            </a:r>
          </a:p>
          <a:p>
            <a:r>
              <a:rPr lang="en-US" sz="1050" b="1" dirty="0"/>
              <a:t>b. How It’s Done</a:t>
            </a:r>
          </a:p>
          <a:p>
            <a:r>
              <a:rPr lang="en-US" sz="1050" dirty="0"/>
              <a:t>Start with healthy Sentinel-2 imagery of fields.</a:t>
            </a:r>
          </a:p>
          <a:p>
            <a:r>
              <a:rPr lang="en-US" sz="1050" dirty="0"/>
              <a:t>Apply spectral shifts in bands to mimic:</a:t>
            </a:r>
          </a:p>
          <a:p>
            <a:pPr lvl="1"/>
            <a:r>
              <a:rPr lang="en-US" sz="1050" dirty="0"/>
              <a:t>Lower NIR reflectance (less cell structure).</a:t>
            </a:r>
          </a:p>
          <a:p>
            <a:pPr lvl="1"/>
            <a:r>
              <a:rPr lang="en-US" sz="1050" dirty="0"/>
              <a:t>Higher red reflectance (less chlorophyll).</a:t>
            </a:r>
          </a:p>
          <a:p>
            <a:pPr lvl="1"/>
            <a:r>
              <a:rPr lang="en-US" sz="1050" dirty="0"/>
              <a:t>Altered red-edge slope (stress marker).</a:t>
            </a:r>
          </a:p>
          <a:p>
            <a:r>
              <a:rPr lang="en-US" sz="1050" dirty="0"/>
              <a:t>Adjust vegetation indices accordingly.</a:t>
            </a:r>
          </a:p>
          <a:p>
            <a:r>
              <a:rPr lang="en-US" sz="1050" dirty="0"/>
              <a:t>Add noise and variability to make them realistic (different severity levels, weather effects).</a:t>
            </a:r>
          </a:p>
          <a:p>
            <a:r>
              <a:rPr lang="en-US" sz="1050" dirty="0"/>
              <a:t>Label these synthetic samples as “stressed” or “diseased” and merge with the real dataset.</a:t>
            </a:r>
          </a:p>
          <a:p>
            <a:pPr marL="0" indent="0">
              <a:buNone/>
            </a:pPr>
            <a:endParaRPr lang="en-US" sz="1050" dirty="0"/>
          </a:p>
          <a:p>
            <a:endParaRPr lang="en-IN" sz="1050" dirty="0"/>
          </a:p>
        </p:txBody>
      </p:sp>
      <p:sp>
        <p:nvSpPr>
          <p:cNvPr id="3" name="TextBox 2">
            <a:extLst>
              <a:ext uri="{FF2B5EF4-FFF2-40B4-BE49-F238E27FC236}">
                <a16:creationId xmlns:a16="http://schemas.microsoft.com/office/drawing/2014/main" id="{9C463D70-4DD1-ACC2-35ED-5D592614BD67}"/>
              </a:ext>
            </a:extLst>
          </p:cNvPr>
          <p:cNvSpPr txBox="1"/>
          <p:nvPr/>
        </p:nvSpPr>
        <p:spPr>
          <a:xfrm>
            <a:off x="413658" y="186266"/>
            <a:ext cx="3813288" cy="646331"/>
          </a:xfrm>
          <a:prstGeom prst="rect">
            <a:avLst/>
          </a:prstGeom>
          <a:noFill/>
        </p:spPr>
        <p:txBody>
          <a:bodyPr wrap="none" rtlCol="0">
            <a:spAutoFit/>
          </a:bodyPr>
          <a:lstStyle/>
          <a:p>
            <a:r>
              <a:rPr lang="en-US" b="1" dirty="0"/>
              <a:t>What “Physics-Informed” Means Here</a:t>
            </a:r>
          </a:p>
          <a:p>
            <a:endParaRPr lang="en-IN" dirty="0"/>
          </a:p>
        </p:txBody>
      </p:sp>
    </p:spTree>
    <p:extLst>
      <p:ext uri="{BB962C8B-B14F-4D97-AF65-F5344CB8AC3E}">
        <p14:creationId xmlns:p14="http://schemas.microsoft.com/office/powerpoint/2010/main" val="1304694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A2417-5863-35E8-AC49-BD47C744D28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B15D640-AADD-0445-7E71-EA4791DBE610}"/>
              </a:ext>
            </a:extLst>
          </p:cNvPr>
          <p:cNvSpPr>
            <a:spLocks noGrp="1"/>
          </p:cNvSpPr>
          <p:nvPr>
            <p:ph idx="1"/>
          </p:nvPr>
        </p:nvSpPr>
        <p:spPr>
          <a:xfrm>
            <a:off x="413658" y="1045029"/>
            <a:ext cx="11276692" cy="4022272"/>
          </a:xfrm>
        </p:spPr>
        <p:txBody>
          <a:bodyPr/>
          <a:lstStyle/>
          <a:p>
            <a:r>
              <a:rPr lang="en-US" sz="1050" b="1" dirty="0"/>
              <a:t>Pick a healthy image</a:t>
            </a:r>
            <a:r>
              <a:rPr lang="en-US" sz="1050" dirty="0"/>
              <a:t> – Take a clean Sentinel-2 image of the field when crops are healthy.</a:t>
            </a:r>
          </a:p>
          <a:p>
            <a:r>
              <a:rPr lang="en-US" sz="1050" b="1" dirty="0"/>
              <a:t>Decide disease effects</a:t>
            </a:r>
            <a:r>
              <a:rPr lang="en-US" sz="1050" dirty="0"/>
              <a:t> – How the disease changes plants: less chlorophyll, less water, more brown spots, shifts in red-edge. Choose mild, moderate, or severe.</a:t>
            </a:r>
          </a:p>
          <a:p>
            <a:r>
              <a:rPr lang="en-US" sz="1050" b="1" dirty="0"/>
              <a:t>Use a model</a:t>
            </a:r>
            <a:r>
              <a:rPr lang="en-US" sz="1050" dirty="0"/>
              <a:t> – Feed these changes into a plant-light model (like PROSAIL) to get reflectance values.</a:t>
            </a:r>
          </a:p>
          <a:p>
            <a:r>
              <a:rPr lang="en-US" sz="1050" b="1" dirty="0"/>
              <a:t>Simulate over time</a:t>
            </a:r>
            <a:r>
              <a:rPr lang="en-US" sz="1050" dirty="0"/>
              <a:t> – Model how the disease appears and spreads over days/weeks.</a:t>
            </a:r>
          </a:p>
          <a:p>
            <a:r>
              <a:rPr lang="en-US" sz="1050" b="1" dirty="0"/>
              <a:t>Add variety</a:t>
            </a:r>
            <a:r>
              <a:rPr lang="en-US" sz="1050" dirty="0"/>
              <a:t> – Change soil background, sunlight angle, crop stage, and sensor noise for diversity.</a:t>
            </a:r>
          </a:p>
          <a:p>
            <a:r>
              <a:rPr lang="en-US" sz="1050" b="1" dirty="0"/>
              <a:t>Match Sentinel-2</a:t>
            </a:r>
            <a:r>
              <a:rPr lang="en-US" sz="1050" dirty="0"/>
              <a:t> – Convert the simulated values to Sentinel-2 bands.</a:t>
            </a:r>
          </a:p>
          <a:p>
            <a:r>
              <a:rPr lang="en-US" sz="1050" b="1" dirty="0"/>
              <a:t>Add realism</a:t>
            </a:r>
            <a:r>
              <a:rPr lang="en-US" sz="1050" dirty="0"/>
              <a:t> – Include atmosphere effects, clouds, and sensor noise.</a:t>
            </a:r>
          </a:p>
          <a:p>
            <a:r>
              <a:rPr lang="en-US" sz="1050" b="1" dirty="0"/>
              <a:t>Attach weather &amp; labels</a:t>
            </a:r>
            <a:r>
              <a:rPr lang="en-US" sz="1050" dirty="0"/>
              <a:t> – Add matching weather data and tags like disease type, severity, date.</a:t>
            </a:r>
          </a:p>
          <a:p>
            <a:r>
              <a:rPr lang="en-US" sz="1050" b="1" dirty="0"/>
              <a:t>Save in usable format</a:t>
            </a:r>
            <a:r>
              <a:rPr lang="en-US" sz="1050" dirty="0"/>
              <a:t> – Store the dataset in the same file type as your real data.</a:t>
            </a:r>
          </a:p>
          <a:p>
            <a:endParaRPr lang="en-IN" sz="1050" dirty="0"/>
          </a:p>
        </p:txBody>
      </p:sp>
      <p:sp>
        <p:nvSpPr>
          <p:cNvPr id="3" name="TextBox 2">
            <a:extLst>
              <a:ext uri="{FF2B5EF4-FFF2-40B4-BE49-F238E27FC236}">
                <a16:creationId xmlns:a16="http://schemas.microsoft.com/office/drawing/2014/main" id="{7329B7DD-4D05-54BF-B901-518571A3BB96}"/>
              </a:ext>
            </a:extLst>
          </p:cNvPr>
          <p:cNvSpPr txBox="1"/>
          <p:nvPr/>
        </p:nvSpPr>
        <p:spPr>
          <a:xfrm>
            <a:off x="413658" y="169333"/>
            <a:ext cx="3279039" cy="369332"/>
          </a:xfrm>
          <a:prstGeom prst="rect">
            <a:avLst/>
          </a:prstGeom>
          <a:noFill/>
        </p:spPr>
        <p:txBody>
          <a:bodyPr wrap="none" rtlCol="0">
            <a:spAutoFit/>
          </a:bodyPr>
          <a:lstStyle/>
          <a:p>
            <a:r>
              <a:rPr lang="en-IN" dirty="0"/>
              <a:t>How can  a disease be simulated </a:t>
            </a:r>
          </a:p>
        </p:txBody>
      </p:sp>
    </p:spTree>
    <p:extLst>
      <p:ext uri="{BB962C8B-B14F-4D97-AF65-F5344CB8AC3E}">
        <p14:creationId xmlns:p14="http://schemas.microsoft.com/office/powerpoint/2010/main" val="2012151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1253</TotalTime>
  <Words>1309</Words>
  <Application>Microsoft Office PowerPoint</Application>
  <PresentationFormat>Widescreen</PresentationFormat>
  <Paragraphs>115</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Noto Serif SC Bold</vt:lpstr>
      <vt:lpstr>Arial</vt:lpstr>
      <vt:lpstr>Arial Black</vt:lpstr>
      <vt:lpstr>Arial,Sans-Serif</vt:lpstr>
      <vt:lpstr>Calibri</vt:lpstr>
      <vt:lpstr>Geist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Manisha S</dc:creator>
  <cp:lastModifiedBy>Jumana Baharul</cp:lastModifiedBy>
  <cp:revision>334</cp:revision>
  <dcterms:created xsi:type="dcterms:W3CDTF">2021-08-26T09:04:20Z</dcterms:created>
  <dcterms:modified xsi:type="dcterms:W3CDTF">2025-08-08T08:53:37Z</dcterms:modified>
</cp:coreProperties>
</file>